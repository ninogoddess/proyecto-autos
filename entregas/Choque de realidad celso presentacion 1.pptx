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84" r:id="rId1"/>
  </p:sldMasterIdLst>
  <p:notesMasterIdLst>
    <p:notesMasterId r:id="rId19"/>
  </p:notesMasterIdLst>
  <p:sldIdLst>
    <p:sldId id="256" r:id="rId2"/>
    <p:sldId id="273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9" r:id="rId14"/>
    <p:sldId id="290" r:id="rId15"/>
    <p:sldId id="292" r:id="rId16"/>
    <p:sldId id="291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25044-C9EF-4EEF-AB79-0C67D36962B7}" type="datetimeFigureOut">
              <a:rPr lang="es-CL" smtClean="0"/>
              <a:t>03-05-2026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18104-017B-433F-910A-810AB345BC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3947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A05DCB9-3C2A-45AC-B140-4FF215A84667}" type="datetime1">
              <a:rPr lang="es-CL" smtClean="0"/>
              <a:t>03-05-2026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052955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0F39-892D-437D-9B6E-AA2EA79E179F}" type="datetime1">
              <a:rPr lang="es-CL" smtClean="0"/>
              <a:t>03-05-2026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043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E78342-0B46-4666-A772-529B74E621EB}" type="datetime1">
              <a:rPr lang="es-CL" smtClean="0"/>
              <a:t>03-05-2026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86282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5E60-DFC0-4B79-B191-DB64E5537B89}" type="datetime1">
              <a:rPr lang="es-CL" smtClean="0"/>
              <a:t>03-05-2026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5395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613A-C5A4-40B0-853F-0BE7303E3C2F}" type="datetime1">
              <a:rPr lang="es-CL" smtClean="0"/>
              <a:t>03-05-2026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3522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9E5-88B1-4B15-8B0D-0D392338505F}" type="datetime1">
              <a:rPr lang="es-CL" smtClean="0"/>
              <a:t>03-05-2026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8330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5A32E-A735-4B68-8D7C-A5B6785DEA4E}" type="datetime1">
              <a:rPr lang="es-CL" smtClean="0"/>
              <a:t>03-05-2026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97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360A1E-37FB-4EE1-B54C-EB4FC6FFC80D}" type="datetime1">
              <a:rPr lang="es-CL" smtClean="0"/>
              <a:t>03-05-2026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9484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39E88C-465D-4FED-B72D-5A13C1AB99B7}" type="datetime1">
              <a:rPr lang="es-CL" smtClean="0"/>
              <a:t>03-05-2026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3933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B6986-3848-40BC-B8ED-F2E375AD8724}" type="datetime1">
              <a:rPr lang="es-CL" smtClean="0"/>
              <a:t>03-05-2026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500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FB01-42B9-461F-85DB-EE7AFA6ADAF9}" type="datetime1">
              <a:rPr lang="es-CL" smtClean="0"/>
              <a:t>03-05-2026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7752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189F774-98ED-4A45-8EDF-532343046F30}" type="datetime1">
              <a:rPr lang="es-CL" smtClean="0"/>
              <a:t>03-05-2026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4725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es/icono-gratis/coche_5266211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es/icono-gratis/mar_13700579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es/icono-gratis/lista-de-tareas_640401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1D9C5-70B7-A2AD-2954-D504965A3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3" y="1330774"/>
            <a:ext cx="8361229" cy="2098226"/>
          </a:xfrm>
        </p:spPr>
        <p:txBody>
          <a:bodyPr/>
          <a:lstStyle/>
          <a:p>
            <a:r>
              <a:rPr lang="es-CL" dirty="0">
                <a:latin typeface="Congenial Black" panose="020F0502020204030204" pitchFamily="2" charset="0"/>
              </a:rPr>
              <a:t>Choque de realidad</a:t>
            </a:r>
            <a:br>
              <a:rPr lang="es-CL" dirty="0">
                <a:latin typeface="Congenial Black" panose="020F0502020204030204" pitchFamily="2" charset="0"/>
              </a:rPr>
            </a:br>
            <a:r>
              <a:rPr lang="es-CL" sz="1800" dirty="0">
                <a:latin typeface="Congenial Black" panose="020F0502020204030204" pitchFamily="2" charset="0"/>
              </a:rPr>
              <a:t>Proyecto de Regresión con ciencia de datos</a:t>
            </a:r>
            <a:endParaRPr lang="es-CL" dirty="0">
              <a:latin typeface="Congenial Black" panose="020F0502020204030204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60C08B-762D-1069-2BCF-6C55A8920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1790" y="3429000"/>
            <a:ext cx="7468417" cy="2378242"/>
          </a:xfrm>
        </p:spPr>
        <p:txBody>
          <a:bodyPr>
            <a:normAutofit/>
          </a:bodyPr>
          <a:lstStyle/>
          <a:p>
            <a:r>
              <a:rPr lang="es-CL" sz="2800" b="1" dirty="0">
                <a:latin typeface="Book Antiqua" panose="02040602050305030304" pitchFamily="18" charset="0"/>
              </a:rPr>
              <a:t>Celso Farías</a:t>
            </a:r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</a:p>
          <a:p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Omar Salinas</a:t>
            </a:r>
          </a:p>
          <a:p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CIENCIA DE DATOS</a:t>
            </a:r>
          </a:p>
          <a:p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Universidad Andrés Bello, Viña del Mar.</a:t>
            </a:r>
          </a:p>
          <a:p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02 de mayo de 2026</a:t>
            </a: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E152CAA8-B122-F9AB-2742-4C01921C68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20" b="62413" l="9961" r="89844">
                        <a14:foregroundMark x1="43750" y1="54988" x2="43555" y2="19722"/>
                        <a14:foregroundMark x1="43555" y1="19722" x2="36914" y2="29466"/>
                        <a14:foregroundMark x1="36914" y1="29466" x2="46094" y2="24594"/>
                        <a14:foregroundMark x1="46094" y1="24594" x2="46289" y2="38747"/>
                        <a14:foregroundMark x1="46289" y1="38747" x2="46484" y2="33875"/>
                        <a14:foregroundMark x1="53320" y1="17169" x2="45313" y2="27610"/>
                        <a14:foregroundMark x1="45313" y1="27610" x2="53125" y2="50812"/>
                        <a14:foregroundMark x1="53125" y1="50812" x2="57813" y2="25754"/>
                        <a14:foregroundMark x1="57813" y1="25754" x2="45117" y2="41763"/>
                        <a14:foregroundMark x1="45117" y1="41763" x2="42383" y2="27610"/>
                        <a14:foregroundMark x1="42383" y1="27610" x2="55664" y2="39211"/>
                        <a14:foregroundMark x1="55664" y1="39211" x2="58398" y2="21578"/>
                        <a14:foregroundMark x1="58398" y1="21578" x2="49414" y2="10209"/>
                        <a14:foregroundMark x1="49414" y1="10209" x2="37109" y2="27610"/>
                        <a14:foregroundMark x1="37109" y1="27610" x2="39063" y2="42227"/>
                        <a14:foregroundMark x1="39063" y1="42227" x2="49414" y2="51276"/>
                        <a14:foregroundMark x1="49414" y1="51276" x2="60547" y2="44084"/>
                        <a14:foregroundMark x1="60547" y1="44084" x2="64258" y2="23898"/>
                        <a14:foregroundMark x1="64258" y1="23898" x2="57227" y2="14849"/>
                        <a14:foregroundMark x1="57227" y1="14849" x2="52344" y2="12297"/>
                        <a14:foregroundMark x1="50000" y1="11601" x2="33008" y2="35499"/>
                        <a14:foregroundMark x1="33008" y1="35499" x2="36914" y2="50348"/>
                        <a14:foregroundMark x1="36914" y1="50348" x2="41211" y2="52204"/>
                        <a14:foregroundMark x1="40625" y1="14385" x2="33594" y2="30626"/>
                        <a14:foregroundMark x1="33594" y1="30626" x2="33203" y2="32947"/>
                        <a14:foregroundMark x1="57031" y1="4408" x2="44922" y2="5104"/>
                        <a14:foregroundMark x1="47070" y1="61949" x2="47070" y2="61949"/>
                        <a14:foregroundMark x1="67383" y1="61949" x2="67383" y2="61949"/>
                        <a14:foregroundMark x1="29297" y1="62413" x2="29297" y2="62413"/>
                        <a14:foregroundMark x1="50000" y1="2320" x2="50000" y2="2320"/>
                        <a14:foregroundMark x1="60352" y1="57773" x2="60352" y2="577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1311"/>
          <a:stretch>
            <a:fillRect/>
          </a:stretch>
        </p:blipFill>
        <p:spPr bwMode="auto">
          <a:xfrm>
            <a:off x="9562679" y="147451"/>
            <a:ext cx="2749725" cy="1525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39CDDF-6E9C-D12C-FD0F-5FF677E8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842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2CD9-CED3-8EE0-904F-0FDA4660F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C9522E00-502F-2F6E-A6B6-A27EE9B5F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641" y="5056846"/>
            <a:ext cx="11165305" cy="82938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sz="3600" b="1" dirty="0">
                <a:latin typeface="Book Antiqua" panose="02040602050305030304" pitchFamily="18" charset="0"/>
              </a:rPr>
              <a:t>¿Podemos predecir el precio de un vehículo con sus características?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6A3C8D-9F91-8013-3E8E-D2E813F7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ngenial" panose="02000503040000020004" pitchFamily="2" charset="0"/>
              </a:rPr>
              <a:t>Caos en el Mercado</a:t>
            </a:r>
            <a:endParaRPr lang="es-CL" b="1" dirty="0">
              <a:latin typeface="Congenial" panose="02000503040000020004" pitchFamily="2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F8BC12B-9F04-D700-0C9D-1479714C3B62}"/>
              </a:ext>
            </a:extLst>
          </p:cNvPr>
          <p:cNvSpPr txBox="1">
            <a:spLocks/>
          </p:cNvSpPr>
          <p:nvPr/>
        </p:nvSpPr>
        <p:spPr>
          <a:xfrm>
            <a:off x="6805359" y="2161358"/>
            <a:ext cx="4572000" cy="328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4400" b="1" baseline="30000" dirty="0" err="1">
                <a:latin typeface="Book Antiqua" panose="02040602050305030304" pitchFamily="18" charset="0"/>
              </a:rPr>
              <a:t>KPIs</a:t>
            </a:r>
            <a:r>
              <a:rPr lang="es-MX" sz="4400" b="1" baseline="30000" dirty="0">
                <a:latin typeface="Book Antiqua" panose="0204060205030503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4400" b="1" baseline="30000" dirty="0">
                <a:latin typeface="Book Antiqua" panose="02040602050305030304" pitchFamily="18" charset="0"/>
              </a:rPr>
              <a:t> R² ≥ 0.90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4400" b="1" baseline="30000" dirty="0">
                <a:latin typeface="Book Antiqua" panose="02040602050305030304" pitchFamily="18" charset="0"/>
              </a:rPr>
              <a:t> RMSE: Bajo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4400" b="1" baseline="30000" dirty="0">
                <a:latin typeface="Book Antiqua" panose="02040602050305030304" pitchFamily="18" charset="0"/>
              </a:rPr>
              <a:t>Respuesta &lt; 2s</a:t>
            </a:r>
            <a:endParaRPr lang="es-CL" sz="4400" b="1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6BDDD9D-8DE1-5D63-D0B6-4A894CDF6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EF2F17A-B7C1-51E3-8072-0156E6E1AC1C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Problema, objetivos y </a:t>
            </a:r>
            <a:r>
              <a:rPr lang="es-CL" sz="1600" b="1" dirty="0" err="1">
                <a:solidFill>
                  <a:schemeClr val="bg1"/>
                </a:solidFill>
                <a:latin typeface="Book Antiqua" panose="02040602050305030304" pitchFamily="18" charset="0"/>
              </a:rPr>
              <a:t>KPIs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A1D142-5C50-F3A0-BEE1-43433864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2</a:t>
            </a:fld>
            <a:endParaRPr lang="es-CL"/>
          </a:p>
        </p:txBody>
      </p:sp>
      <p:pic>
        <p:nvPicPr>
          <p:cNvPr id="1026" name="Picture 2" descr="coche ">
            <a:hlinkClick r:id="rId3" tooltip="coche"/>
            <a:extLst>
              <a:ext uri="{FF2B5EF4-FFF2-40B4-BE49-F238E27FC236}">
                <a16:creationId xmlns:a16="http://schemas.microsoft.com/office/drawing/2014/main" id="{46713275-313A-12CF-1353-C95586D9B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53773"/>
            <a:ext cx="3422016" cy="342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nero ">
            <a:extLst>
              <a:ext uri="{FF2B5EF4-FFF2-40B4-BE49-F238E27FC236}">
                <a16:creationId xmlns:a16="http://schemas.microsoft.com/office/drawing/2014/main" id="{F96CB150-4414-BD43-142C-FE663C85D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823" y="2365967"/>
            <a:ext cx="2622885" cy="2622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758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0878-D702-37EF-1AE2-65380BF4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9C41D265-C504-3420-8DEB-BA6969292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129" y="5151487"/>
            <a:ext cx="6610351" cy="811163"/>
          </a:xfrm>
        </p:spPr>
        <p:txBody>
          <a:bodyPr/>
          <a:lstStyle/>
          <a:p>
            <a:pPr marL="0" indent="0">
              <a:buNone/>
            </a:pPr>
            <a:r>
              <a:rPr lang="es-CL" sz="2800" dirty="0" err="1">
                <a:latin typeface="Book Antiqua" panose="02040602050305030304" pitchFamily="18" charset="0"/>
              </a:rPr>
              <a:t>Craigslist</a:t>
            </a:r>
            <a:r>
              <a:rPr lang="es-CL" sz="2800" dirty="0">
                <a:latin typeface="Book Antiqua" panose="02040602050305030304" pitchFamily="18" charset="0"/>
              </a:rPr>
              <a:t> Cars </a:t>
            </a:r>
            <a:r>
              <a:rPr lang="es-CL" sz="2800" dirty="0" err="1">
                <a:latin typeface="Book Antiqua" panose="02040602050305030304" pitchFamily="18" charset="0"/>
              </a:rPr>
              <a:t>Dataset</a:t>
            </a:r>
            <a:r>
              <a:rPr lang="es-CL" sz="2800" dirty="0">
                <a:latin typeface="Book Antiqua" panose="02040602050305030304" pitchFamily="18" charset="0"/>
              </a:rPr>
              <a:t> de Kaggle</a:t>
            </a:r>
            <a:r>
              <a:rPr lang="es-CL" sz="2800" baseline="30000" dirty="0">
                <a:latin typeface="Book Antiqua" panose="02040602050305030304" pitchFamily="18" charset="0"/>
              </a:rPr>
              <a:t>1 </a:t>
            </a:r>
            <a:endParaRPr lang="es-CL" baseline="30000" dirty="0">
              <a:latin typeface="Book Antiqua" panose="0204060205030503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332CDD-5AA1-67C5-8F23-81EA959A5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480" y="404871"/>
            <a:ext cx="5399649" cy="1485900"/>
          </a:xfrm>
        </p:spPr>
        <p:txBody>
          <a:bodyPr>
            <a:normAutofit fontScale="90000"/>
          </a:bodyPr>
          <a:lstStyle/>
          <a:p>
            <a:r>
              <a:rPr lang="es-MX" sz="6000" b="1" dirty="0">
                <a:latin typeface="Congenial" panose="02000503040000020004" pitchFamily="2" charset="0"/>
              </a:rPr>
              <a:t>El origen del saber</a:t>
            </a:r>
            <a:endParaRPr lang="es-CL" sz="6000" b="1" dirty="0">
              <a:latin typeface="Congenial" panose="02000503040000020004" pitchFamily="2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F1284AF-C292-4DCD-16F3-6D1229CE5D6C}"/>
              </a:ext>
            </a:extLst>
          </p:cNvPr>
          <p:cNvSpPr txBox="1">
            <a:spLocks/>
          </p:cNvSpPr>
          <p:nvPr/>
        </p:nvSpPr>
        <p:spPr>
          <a:xfrm>
            <a:off x="903706" y="2821739"/>
            <a:ext cx="5399649" cy="33011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3200" b="1" dirty="0">
                <a:latin typeface="Book Antiqua" panose="02040602050305030304" pitchFamily="18" charset="0"/>
              </a:rPr>
              <a:t>Scikit Learn nos permite entrenas modelos fácilmente</a:t>
            </a:r>
            <a:r>
              <a:rPr lang="es-MX" sz="3200" b="1" baseline="30000" dirty="0">
                <a:latin typeface="Book Antiqua" panose="02040602050305030304" pitchFamily="18" charset="0"/>
              </a:rPr>
              <a:t>2</a:t>
            </a:r>
          </a:p>
          <a:p>
            <a:pPr marL="0" indent="0" algn="ctr">
              <a:buNone/>
            </a:pPr>
            <a:endParaRPr lang="es-MX" sz="3500" b="1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5107824-15D5-2524-9F44-D4B1F3B6D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9A76634-EC25-03DE-5E80-E4F7488E3A7D}"/>
              </a:ext>
            </a:extLst>
          </p:cNvPr>
          <p:cNvSpPr txBox="1"/>
          <p:nvPr/>
        </p:nvSpPr>
        <p:spPr>
          <a:xfrm>
            <a:off x="138334" y="6160031"/>
            <a:ext cx="1596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Antecedentes </a:t>
            </a:r>
          </a:p>
          <a:p>
            <a:r>
              <a:rPr lang="es-MX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y fuentes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A5A575-FD36-FE56-05C2-13BE7829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3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B1CF49C-DCB1-7C04-44CC-695C6493BE4D}"/>
              </a:ext>
            </a:extLst>
          </p:cNvPr>
          <p:cNvSpPr txBox="1"/>
          <p:nvPr/>
        </p:nvSpPr>
        <p:spPr>
          <a:xfrm>
            <a:off x="1868905" y="6036920"/>
            <a:ext cx="89344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Kaggle. Craigslist Cars &amp; Trucks Dataset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Pedregosa et al. (2011). Scikit-learn: Machine Learning in Python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8B0275F-929F-7DF9-2F36-DD32D9D19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095" y="502669"/>
            <a:ext cx="4993389" cy="4459212"/>
          </a:xfrm>
          <a:prstGeom prst="roundRect">
            <a:avLst>
              <a:gd name="adj" fmla="val 695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2792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AE1C4-982F-FCF1-F7A5-C77038F67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65FC7453-F075-7B9F-6131-84E467FDC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541" y="1704594"/>
            <a:ext cx="5951622" cy="2872165"/>
          </a:xfrm>
        </p:spPr>
        <p:txBody>
          <a:bodyPr/>
          <a:lstStyle/>
          <a:p>
            <a:pPr marL="0" indent="0">
              <a:buNone/>
            </a:pPr>
            <a:r>
              <a:rPr lang="es-CL" b="1" dirty="0">
                <a:latin typeface="Book Antiqua" panose="02040602050305030304" pitchFamily="18" charset="0"/>
              </a:rPr>
              <a:t>Entrenamiento → Evaluación → Persistencia</a:t>
            </a:r>
          </a:p>
          <a:p>
            <a:pPr marL="0" indent="0">
              <a:buNone/>
            </a:pPr>
            <a:endParaRPr lang="es-CL" b="1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Múltiples modelos en paralelo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Métricas automáticas como MAE, RMSE, R²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Modelos y datos almacenados en .</a:t>
            </a:r>
            <a:r>
              <a:rPr lang="es-MX" dirty="0" err="1">
                <a:latin typeface="Book Antiqua" panose="02040602050305030304" pitchFamily="18" charset="0"/>
              </a:rPr>
              <a:t>pkl</a:t>
            </a:r>
            <a:endParaRPr lang="es-CL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s-CL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78B554-ED40-6028-D4FD-20F7E098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ngenial" panose="02000503040000020004" pitchFamily="2" charset="0"/>
              </a:rPr>
              <a:t>Un sistema vivo</a:t>
            </a:r>
            <a:endParaRPr lang="es-CL" b="1" dirty="0">
              <a:latin typeface="Congenial" panose="02000503040000020004" pitchFamily="2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2CE7E7E-B442-8B32-03ED-A9576AE12C5E}"/>
              </a:ext>
            </a:extLst>
          </p:cNvPr>
          <p:cNvSpPr txBox="1">
            <a:spLocks/>
          </p:cNvSpPr>
          <p:nvPr/>
        </p:nvSpPr>
        <p:spPr>
          <a:xfrm>
            <a:off x="6952163" y="1317592"/>
            <a:ext cx="5041145" cy="46612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Los pilares: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i="0" dirty="0">
                <a:latin typeface="Book Antiqua" panose="02040602050305030304" pitchFamily="18" charset="0"/>
              </a:rPr>
              <a:t>Escalabilidad: </a:t>
            </a:r>
            <a:r>
              <a:rPr lang="es-MX" sz="2400" i="0" dirty="0">
                <a:latin typeface="Book Antiqua" panose="02040602050305030304" pitchFamily="18" charset="0"/>
              </a:rPr>
              <a:t>Soporta crecimiento de datos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i="0" dirty="0">
                <a:latin typeface="Book Antiqua" panose="02040602050305030304" pitchFamily="18" charset="0"/>
              </a:rPr>
              <a:t>Mantenibilidad: </a:t>
            </a:r>
            <a:r>
              <a:rPr lang="es-MX" sz="2400" i="0" dirty="0">
                <a:latin typeface="Book Antiqua" panose="02040602050305030304" pitchFamily="18" charset="0"/>
              </a:rPr>
              <a:t>Arquitectura modular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i="0" dirty="0">
                <a:latin typeface="Book Antiqua" panose="02040602050305030304" pitchFamily="18" charset="0"/>
              </a:rPr>
              <a:t>Eficiencia: </a:t>
            </a:r>
            <a:r>
              <a:rPr lang="es-MX" sz="2400" i="0" dirty="0">
                <a:latin typeface="Book Antiqua" panose="02040602050305030304" pitchFamily="18" charset="0"/>
              </a:rPr>
              <a:t>Tiempos de entrenamiento e inferencia acotados</a:t>
            </a:r>
            <a:endParaRPr lang="es-CL" sz="2400" i="0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FD91C6E-80C3-FBE1-E1C7-27598D240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A8597BA-B473-1C12-5092-99830A75FD12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Requisitos del proyecto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E64A9D-369A-1FFE-02BC-174B5F5E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4</a:t>
            </a:fld>
            <a:endParaRPr lang="es-CL"/>
          </a:p>
        </p:txBody>
      </p:sp>
      <p:pic>
        <p:nvPicPr>
          <p:cNvPr id="2050" name="Picture 2" descr="Ruta De Senderismo. Seguir Los Pasos Seguir La Pista De La Ruta De Senderos  Humanos Imprimir Ilustración del Vector - Ilustración de huella, deportes:  200729975">
            <a:extLst>
              <a:ext uri="{FF2B5EF4-FFF2-40B4-BE49-F238E27FC236}">
                <a16:creationId xmlns:a16="http://schemas.microsoft.com/office/drawing/2014/main" id="{00358734-6511-E9B6-35CB-48C1A4263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69A1AB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95" b="88745" l="5963" r="93578">
                        <a14:foregroundMark x1="27064" y1="33766" x2="27064" y2="33766"/>
                        <a14:foregroundMark x1="42202" y1="44589" x2="42202" y2="44589"/>
                        <a14:foregroundMark x1="61927" y1="46753" x2="61927" y2="46753"/>
                        <a14:foregroundMark x1="51835" y1="51082" x2="51835" y2="51082"/>
                        <a14:foregroundMark x1="78899" y1="58874" x2="78899" y2="58874"/>
                        <a14:foregroundMark x1="66972" y1="57143" x2="66972" y2="57143"/>
                        <a14:foregroundMark x1="91743" y1="72294" x2="91743" y2="72294"/>
                        <a14:foregroundMark x1="80275" y1="68831" x2="80275" y2="68831"/>
                        <a14:foregroundMark x1="91743" y1="83117" x2="91743" y2="83117"/>
                        <a14:foregroundMark x1="16972" y1="32468" x2="16972" y2="32468"/>
                        <a14:foregroundMark x1="20642" y1="36797" x2="20642" y2="36797"/>
                        <a14:foregroundMark x1="16972" y1="22944" x2="16972" y2="22944"/>
                        <a14:foregroundMark x1="6881" y1="18615" x2="6881" y2="18615"/>
                        <a14:foregroundMark x1="6881" y1="9091" x2="6881" y2="9091"/>
                        <a14:foregroundMark x1="6881" y1="5195" x2="6881" y2="5195"/>
                        <a14:foregroundMark x1="30734" y1="38961" x2="30734" y2="38961"/>
                        <a14:foregroundMark x1="36239" y1="46320" x2="36239" y2="46320"/>
                        <a14:foregroundMark x1="55505" y1="51082" x2="55505" y2="51082"/>
                        <a14:foregroundMark x1="66055" y1="50216" x2="66055" y2="50216"/>
                        <a14:foregroundMark x1="71560" y1="59307" x2="71560" y2="59307"/>
                        <a14:foregroundMark x1="81651" y1="61905" x2="81651" y2="61905"/>
                        <a14:foregroundMark x1="84404" y1="71429" x2="84404" y2="71429"/>
                        <a14:foregroundMark x1="93578" y1="76190" x2="93578" y2="76190"/>
                        <a14:foregroundMark x1="5963" y1="16883" x2="5963" y2="16883"/>
                        <a14:foregroundMark x1="16972" y1="25974" x2="16972" y2="25974"/>
                        <a14:foregroundMark x1="10092" y1="21212" x2="10092" y2="21212"/>
                        <a14:foregroundMark x1="46789" y1="44589" x2="46789" y2="44589"/>
                        <a14:backgroundMark x1="7339" y1="20346" x2="7339" y2="203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5648">
            <a:off x="1859625" y="2921394"/>
            <a:ext cx="4447596" cy="471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417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A106-D319-E15D-6B02-FB6320DCF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3F4E12A0-CF95-43E9-E3E5-239F64400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606" y="1620773"/>
            <a:ext cx="4099560" cy="3288229"/>
          </a:xfrm>
        </p:spPr>
        <p:txBody>
          <a:bodyPr/>
          <a:lstStyle/>
          <a:p>
            <a:pPr marL="0" indent="0">
              <a:buNone/>
            </a:pPr>
            <a:r>
              <a:rPr lang="es-MX" sz="4000" b="1" dirty="0">
                <a:latin typeface="Book Antiqua" panose="02040602050305030304" pitchFamily="18" charset="0"/>
              </a:rPr>
              <a:t>Magnitud</a:t>
            </a:r>
            <a:endParaRPr lang="es-MX" sz="40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4000" dirty="0">
                <a:latin typeface="Book Antiqua" panose="02040602050305030304" pitchFamily="18" charset="0"/>
              </a:rPr>
              <a:t>426K registros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4000" dirty="0">
                <a:latin typeface="Book Antiqua" panose="02040602050305030304" pitchFamily="18" charset="0"/>
              </a:rPr>
              <a:t>26 variables</a:t>
            </a:r>
          </a:p>
          <a:p>
            <a:endParaRPr lang="es-CL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918D75-520B-4358-EE54-0ED2A426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Un océano de datos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85413D5-7159-4F7F-9DA4-F8FEE15DF58A}"/>
              </a:ext>
            </a:extLst>
          </p:cNvPr>
          <p:cNvSpPr txBox="1">
            <a:spLocks/>
          </p:cNvSpPr>
          <p:nvPr/>
        </p:nvSpPr>
        <p:spPr>
          <a:xfrm>
            <a:off x="5340166" y="1657717"/>
            <a:ext cx="6330764" cy="438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800" b="1" dirty="0">
                <a:latin typeface="Book Antiqua" panose="02040602050305030304" pitchFamily="18" charset="0"/>
              </a:rPr>
              <a:t>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>
                <a:latin typeface="Book Antiqua" panose="02040602050305030304" pitchFamily="18" charset="0"/>
              </a:rPr>
              <a:t>Objetivo: </a:t>
            </a:r>
            <a:r>
              <a:rPr lang="es-MX" sz="2800" dirty="0">
                <a:latin typeface="Book Antiqua" panose="02040602050305030304" pitchFamily="18" charset="0"/>
              </a:rPr>
              <a:t>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>
                <a:latin typeface="Book Antiqua" panose="02040602050305030304" pitchFamily="18" charset="0"/>
              </a:rPr>
              <a:t>Numéricas: </a:t>
            </a:r>
            <a:r>
              <a:rPr lang="es-MX" sz="2800" dirty="0" err="1">
                <a:latin typeface="Book Antiqua" panose="02040602050305030304" pitchFamily="18" charset="0"/>
              </a:rPr>
              <a:t>year</a:t>
            </a:r>
            <a:r>
              <a:rPr lang="es-MX" sz="2800" dirty="0">
                <a:latin typeface="Book Antiqua" panose="02040602050305030304" pitchFamily="18" charset="0"/>
              </a:rPr>
              <a:t>, </a:t>
            </a:r>
            <a:r>
              <a:rPr lang="es-MX" sz="2800" dirty="0" err="1">
                <a:latin typeface="Book Antiqua" panose="02040602050305030304" pitchFamily="18" charset="0"/>
              </a:rPr>
              <a:t>odometer</a:t>
            </a:r>
            <a:r>
              <a:rPr lang="es-MX" sz="2800" dirty="0">
                <a:latin typeface="Book Antiqua" panose="02040602050305030304" pitchFamily="18" charset="0"/>
              </a:rPr>
              <a:t>, </a:t>
            </a:r>
            <a:r>
              <a:rPr lang="es-MX" sz="2800" dirty="0" err="1">
                <a:latin typeface="Book Antiqua" panose="02040602050305030304" pitchFamily="18" charset="0"/>
              </a:rPr>
              <a:t>lat</a:t>
            </a:r>
            <a:r>
              <a:rPr lang="es-MX" sz="2800" dirty="0">
                <a:latin typeface="Book Antiqua" panose="02040602050305030304" pitchFamily="18" charset="0"/>
              </a:rPr>
              <a:t>, </a:t>
            </a:r>
            <a:r>
              <a:rPr lang="es-MX" sz="2800" dirty="0" err="1">
                <a:latin typeface="Book Antiqua" panose="02040602050305030304" pitchFamily="18" charset="0"/>
              </a:rPr>
              <a:t>long</a:t>
            </a:r>
            <a:endParaRPr lang="es-MX" sz="28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>
                <a:latin typeface="Book Antiqua" panose="02040602050305030304" pitchFamily="18" charset="0"/>
              </a:rPr>
              <a:t>Categóricas:</a:t>
            </a:r>
            <a:r>
              <a:rPr lang="es-MX" sz="2800" dirty="0">
                <a:latin typeface="Book Antiqua" panose="02040602050305030304" pitchFamily="18" charset="0"/>
              </a:rPr>
              <a:t> </a:t>
            </a:r>
            <a:r>
              <a:rPr lang="es-MX" sz="2800" dirty="0" err="1">
                <a:latin typeface="Book Antiqua" panose="02040602050305030304" pitchFamily="18" charset="0"/>
              </a:rPr>
              <a:t>manufacturer</a:t>
            </a:r>
            <a:r>
              <a:rPr lang="es-MX" sz="2800" dirty="0">
                <a:latin typeface="Book Antiqua" panose="02040602050305030304" pitchFamily="18" charset="0"/>
              </a:rPr>
              <a:t>, </a:t>
            </a:r>
            <a:r>
              <a:rPr lang="es-MX" sz="2800" dirty="0" err="1">
                <a:latin typeface="Book Antiqua" panose="02040602050305030304" pitchFamily="18" charset="0"/>
              </a:rPr>
              <a:t>model</a:t>
            </a:r>
            <a:r>
              <a:rPr lang="es-MX" sz="2800" dirty="0">
                <a:latin typeface="Book Antiqua" panose="02040602050305030304" pitchFamily="18" charset="0"/>
              </a:rPr>
              <a:t>, fuel, </a:t>
            </a:r>
            <a:r>
              <a:rPr lang="es-MX" sz="2800" dirty="0" err="1">
                <a:latin typeface="Book Antiqua" panose="02040602050305030304" pitchFamily="18" charset="0"/>
              </a:rPr>
              <a:t>transmission</a:t>
            </a:r>
            <a:endParaRPr lang="es-MX" sz="28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 err="1">
                <a:latin typeface="Book Antiqua" panose="02040602050305030304" pitchFamily="18" charset="0"/>
              </a:rPr>
              <a:t>Metadata</a:t>
            </a:r>
            <a:r>
              <a:rPr lang="es-MX" sz="2800" b="1" dirty="0">
                <a:latin typeface="Book Antiqua" panose="02040602050305030304" pitchFamily="18" charset="0"/>
              </a:rPr>
              <a:t>: </a:t>
            </a:r>
            <a:r>
              <a:rPr lang="es-MX" sz="2800" dirty="0">
                <a:latin typeface="Book Antiqua" panose="02040602050305030304" pitchFamily="18" charset="0"/>
              </a:rPr>
              <a:t>id, </a:t>
            </a:r>
            <a:r>
              <a:rPr lang="es-MX" sz="2800" dirty="0" err="1">
                <a:latin typeface="Book Antiqua" panose="02040602050305030304" pitchFamily="18" charset="0"/>
              </a:rPr>
              <a:t>region</a:t>
            </a:r>
            <a:r>
              <a:rPr lang="es-MX" sz="2800" dirty="0">
                <a:latin typeface="Book Antiqua" panose="02040602050305030304" pitchFamily="18" charset="0"/>
              </a:rPr>
              <a:t>, </a:t>
            </a:r>
            <a:r>
              <a:rPr lang="es-MX" sz="2800" dirty="0" err="1">
                <a:latin typeface="Book Antiqua" panose="02040602050305030304" pitchFamily="18" charset="0"/>
              </a:rPr>
              <a:t>posting_date</a:t>
            </a:r>
            <a:endParaRPr lang="es-CL" sz="2800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BEB40D-ACF7-0460-F284-A6EEED266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B3EAA5A-4045-1B97-DE86-ECB346E4A5AB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 err="1">
                <a:solidFill>
                  <a:schemeClr val="bg1"/>
                </a:solidFill>
                <a:latin typeface="Book Antiqua" panose="02040602050305030304" pitchFamily="18" charset="0"/>
              </a:rPr>
              <a:t>Dataset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D976F7-3B3F-2D33-4BC1-EC519F29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5</a:t>
            </a:fld>
            <a:endParaRPr lang="es-CL"/>
          </a:p>
        </p:txBody>
      </p:sp>
      <p:pic>
        <p:nvPicPr>
          <p:cNvPr id="3074" name="Picture 2" descr="mar ">
            <a:hlinkClick r:id="rId3" tooltip="mar"/>
            <a:extLst>
              <a:ext uri="{FF2B5EF4-FFF2-40B4-BE49-F238E27FC236}">
                <a16:creationId xmlns:a16="http://schemas.microsoft.com/office/drawing/2014/main" id="{7284845E-C6C7-578B-7E8A-F66291BB4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985" y="3793900"/>
            <a:ext cx="1784802" cy="1784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108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8B8F4-9CD5-1AD3-8BF2-EBD2E3D0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BA19CD3C-4B86-2333-5F67-104E8156B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123" y="5387048"/>
            <a:ext cx="10803354" cy="56864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>
                <a:latin typeface="Book Antiqua" panose="02040602050305030304" pitchFamily="18" charset="0"/>
              </a:rPr>
              <a:t>Negocio</a:t>
            </a:r>
            <a:r>
              <a:rPr lang="en-US" sz="2400" b="1" dirty="0">
                <a:latin typeface="Book Antiqua" panose="02040602050305030304" pitchFamily="18" charset="0"/>
              </a:rPr>
              <a:t> → Datos → </a:t>
            </a:r>
            <a:r>
              <a:rPr lang="en-US" sz="2400" b="1" dirty="0" err="1">
                <a:latin typeface="Book Antiqua" panose="02040602050305030304" pitchFamily="18" charset="0"/>
              </a:rPr>
              <a:t>Preprop</a:t>
            </a:r>
            <a:r>
              <a:rPr lang="en-US" sz="2400" b="1" dirty="0">
                <a:latin typeface="Book Antiqua" panose="02040602050305030304" pitchFamily="18" charset="0"/>
              </a:rPr>
              <a:t> → </a:t>
            </a:r>
            <a:r>
              <a:rPr lang="en-US" sz="2400" b="1" dirty="0" err="1">
                <a:latin typeface="Book Antiqua" panose="02040602050305030304" pitchFamily="18" charset="0"/>
              </a:rPr>
              <a:t>Modelamiento</a:t>
            </a:r>
            <a:r>
              <a:rPr lang="en-US" sz="2400" b="1" dirty="0">
                <a:latin typeface="Book Antiqua" panose="02040602050305030304" pitchFamily="18" charset="0"/>
              </a:rPr>
              <a:t> → </a:t>
            </a:r>
            <a:r>
              <a:rPr lang="en-US" sz="2400" b="1" dirty="0" err="1">
                <a:latin typeface="Book Antiqua" panose="02040602050305030304" pitchFamily="18" charset="0"/>
              </a:rPr>
              <a:t>Evaluación</a:t>
            </a:r>
            <a:r>
              <a:rPr lang="en-US" sz="2400" b="1" dirty="0">
                <a:latin typeface="Book Antiqua" panose="02040602050305030304" pitchFamily="18" charset="0"/>
              </a:rPr>
              <a:t> → </a:t>
            </a:r>
            <a:r>
              <a:rPr lang="en-US" sz="2400" b="1" dirty="0" err="1">
                <a:latin typeface="Book Antiqua" panose="02040602050305030304" pitchFamily="18" charset="0"/>
              </a:rPr>
              <a:t>Despliegue</a:t>
            </a:r>
            <a:endParaRPr lang="en-US" sz="2400" b="1" dirty="0">
              <a:latin typeface="Book Antiqua" panose="0204060205030503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E2BD54-4002-6A92-A187-209B915E8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63" y="390693"/>
            <a:ext cx="9601200" cy="1485900"/>
          </a:xfrm>
        </p:spPr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Del problema al sistema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9942842-1B3F-AE4D-D915-B8124CB009D9}"/>
              </a:ext>
            </a:extLst>
          </p:cNvPr>
          <p:cNvSpPr txBox="1">
            <a:spLocks/>
          </p:cNvSpPr>
          <p:nvPr/>
        </p:nvSpPr>
        <p:spPr>
          <a:xfrm>
            <a:off x="1432560" y="2282233"/>
            <a:ext cx="4968240" cy="3581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3200" b="1" dirty="0">
                <a:latin typeface="Book Antiqua" panose="02040602050305030304" pitchFamily="18" charset="0"/>
              </a:rPr>
              <a:t>Marzo → </a:t>
            </a:r>
            <a:r>
              <a:rPr lang="es-MX" sz="3200" dirty="0">
                <a:latin typeface="Book Antiqua" panose="02040602050305030304" pitchFamily="18" charset="0"/>
              </a:rPr>
              <a:t>Problema</a:t>
            </a:r>
          </a:p>
          <a:p>
            <a:pPr marL="0" indent="0" algn="ctr">
              <a:buNone/>
            </a:pPr>
            <a:r>
              <a:rPr lang="es-MX" sz="3200" b="1" dirty="0">
                <a:latin typeface="Book Antiqua" panose="02040602050305030304" pitchFamily="18" charset="0"/>
              </a:rPr>
              <a:t>Abril → </a:t>
            </a:r>
            <a:r>
              <a:rPr lang="es-MX" sz="3200" dirty="0">
                <a:latin typeface="Book Antiqua" panose="02040602050305030304" pitchFamily="18" charset="0"/>
              </a:rPr>
              <a:t>Datos y modelos</a:t>
            </a:r>
          </a:p>
          <a:p>
            <a:pPr marL="0" indent="0" algn="ctr">
              <a:buNone/>
            </a:pPr>
            <a:r>
              <a:rPr lang="es-MX" sz="3200" b="1" dirty="0">
                <a:latin typeface="Book Antiqua" panose="02040602050305030304" pitchFamily="18" charset="0"/>
              </a:rPr>
              <a:t>Mayo → </a:t>
            </a:r>
            <a:r>
              <a:rPr lang="es-MX" sz="3200" dirty="0">
                <a:latin typeface="Book Antiqua" panose="02040602050305030304" pitchFamily="18" charset="0"/>
              </a:rPr>
              <a:t>Despliegue</a:t>
            </a:r>
            <a:endParaRPr lang="es-CL" sz="3200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0DD383C-F9C3-F8B3-EAB2-E8B51024A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1254ECD-3861-434A-58E6-F292D335B9FF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Metodología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8592BA-6FBD-5932-18AC-C72D643A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6</a:t>
            </a:fld>
            <a:endParaRPr lang="es-CL"/>
          </a:p>
        </p:txBody>
      </p:sp>
      <p:pic>
        <p:nvPicPr>
          <p:cNvPr id="12" name="Imagen 11" descr="Diagrama CRISP-DM">
            <a:extLst>
              <a:ext uri="{FF2B5EF4-FFF2-40B4-BE49-F238E27FC236}">
                <a16:creationId xmlns:a16="http://schemas.microsoft.com/office/drawing/2014/main" id="{DE162CA9-4046-6393-7BC3-ECB797337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237" y="124438"/>
            <a:ext cx="4968240" cy="493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3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9B7D9-3702-25BB-E21A-6917D037F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CA373A7-B11F-C3D7-91B4-AC1B9F4C9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84" y="1158240"/>
            <a:ext cx="7716795" cy="4157869"/>
          </a:xfrm>
          <a:prstGeom prst="roundRect">
            <a:avLst>
              <a:gd name="adj" fmla="val 726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259C87D-81A5-4408-1400-109068B6A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84" y="329822"/>
            <a:ext cx="9601200" cy="1485900"/>
          </a:xfrm>
        </p:spPr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Los datos hablan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08AFC0F-E306-674A-EABA-27BBDD25F07F}"/>
              </a:ext>
            </a:extLst>
          </p:cNvPr>
          <p:cNvSpPr txBox="1">
            <a:spLocks/>
          </p:cNvSpPr>
          <p:nvPr/>
        </p:nvSpPr>
        <p:spPr>
          <a:xfrm>
            <a:off x="8378104" y="2301240"/>
            <a:ext cx="3943062" cy="3398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Hallazgos clave:</a:t>
            </a:r>
          </a:p>
          <a:p>
            <a:pPr marL="0" indent="0" algn="ctr">
              <a:buNone/>
            </a:pPr>
            <a:r>
              <a:rPr lang="es-MX" sz="2400" dirty="0">
                <a:latin typeface="Book Antiqua" panose="02040602050305030304" pitchFamily="18" charset="0"/>
              </a:rPr>
              <a:t>Depreciación clara</a:t>
            </a:r>
          </a:p>
          <a:p>
            <a:pPr marL="0" indent="0" algn="ctr">
              <a:buNone/>
            </a:pPr>
            <a:r>
              <a:rPr lang="es-MX" sz="2400" dirty="0" err="1">
                <a:latin typeface="Book Antiqua" panose="02040602050305030304" pitchFamily="18" charset="0"/>
              </a:rPr>
              <a:t>Outliers</a:t>
            </a:r>
            <a:r>
              <a:rPr lang="es-MX" sz="2400" dirty="0">
                <a:latin typeface="Book Antiqua" panose="02040602050305030304" pitchFamily="18" charset="0"/>
              </a:rPr>
              <a:t> y ruido</a:t>
            </a:r>
          </a:p>
          <a:p>
            <a:pPr marL="0" indent="0" algn="ctr">
              <a:buNone/>
            </a:pPr>
            <a:r>
              <a:rPr lang="es-MX" sz="2400" dirty="0">
                <a:latin typeface="Book Antiqua" panose="02040602050305030304" pitchFamily="18" charset="0"/>
              </a:rPr>
              <a:t>Variables incompletas</a:t>
            </a:r>
            <a:endParaRPr lang="es-CL" sz="2400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A935F3-7C40-6453-C569-800FAD0DB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E6EE242-A714-82CE-79DF-4E40023B1C6E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EDA y visualización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33A32B-AEEE-B505-231E-3CA1258F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7</a:t>
            </a:fld>
            <a:endParaRPr lang="es-CL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879C796-63B3-5D4C-57A4-4F2E9A397B95}"/>
              </a:ext>
            </a:extLst>
          </p:cNvPr>
          <p:cNvSpPr txBox="1">
            <a:spLocks/>
          </p:cNvSpPr>
          <p:nvPr/>
        </p:nvSpPr>
        <p:spPr>
          <a:xfrm>
            <a:off x="590464" y="5473165"/>
            <a:ext cx="11140238" cy="1485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El precio no vive en una variable, emerge de sus relaciones</a:t>
            </a:r>
            <a:endParaRPr lang="es-CL" sz="2400" b="1" baseline="30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671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D075-1A7A-2548-C08A-A91F7F7C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1755634-494D-91BA-F936-FCCB352F9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28" y="1686110"/>
            <a:ext cx="6668858" cy="3736121"/>
          </a:xfrm>
          <a:prstGeom prst="roundRect">
            <a:avLst>
              <a:gd name="adj" fmla="val 6813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22491B4-A539-97B1-0463-02EC4068E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Purgando el mundo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A7F5E74-82B0-FBF0-CEE6-2FC04922529C}"/>
              </a:ext>
            </a:extLst>
          </p:cNvPr>
          <p:cNvSpPr txBox="1">
            <a:spLocks/>
          </p:cNvSpPr>
          <p:nvPr/>
        </p:nvSpPr>
        <p:spPr>
          <a:xfrm>
            <a:off x="7764286" y="1137829"/>
            <a:ext cx="4138863" cy="5155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MX" sz="2200" b="1" dirty="0">
                <a:latin typeface="Book Antiqua" panose="02040602050305030304" pitchFamily="18" charset="0"/>
              </a:rPr>
              <a:t>Flujo de Preprocesamiento:</a:t>
            </a:r>
            <a:endParaRPr lang="es-MX" sz="22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>
                <a:latin typeface="Book Antiqua" panose="02040602050305030304" pitchFamily="18" charset="0"/>
              </a:rPr>
              <a:t>Limpieza y filtros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>
                <a:latin typeface="Book Antiqua" panose="02040602050305030304" pitchFamily="18" charset="0"/>
              </a:rPr>
              <a:t>Manejo de nulos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 err="1">
                <a:latin typeface="Book Antiqua" panose="02040602050305030304" pitchFamily="18" charset="0"/>
              </a:rPr>
              <a:t>Encoding</a:t>
            </a:r>
            <a:r>
              <a:rPr lang="es-MX" sz="2000" dirty="0">
                <a:latin typeface="Book Antiqua" panose="02040602050305030304" pitchFamily="18" charset="0"/>
              </a:rPr>
              <a:t> (</a:t>
            </a:r>
            <a:r>
              <a:rPr lang="es-MX" sz="2000" dirty="0" err="1">
                <a:latin typeface="Book Antiqua" panose="02040602050305030304" pitchFamily="18" charset="0"/>
              </a:rPr>
              <a:t>One</a:t>
            </a:r>
            <a:r>
              <a:rPr lang="es-MX" sz="2000" dirty="0">
                <a:latin typeface="Book Antiqua" panose="02040602050305030304" pitchFamily="18" charset="0"/>
              </a:rPr>
              <a:t>-Hot + Target)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>
                <a:latin typeface="Book Antiqua" panose="02040602050305030304" pitchFamily="18" charset="0"/>
              </a:rPr>
              <a:t>Normalización</a:t>
            </a:r>
          </a:p>
          <a:p>
            <a:pPr>
              <a:buNone/>
            </a:pPr>
            <a:r>
              <a:rPr lang="es-MX" sz="2200" b="1" dirty="0" err="1">
                <a:latin typeface="Book Antiqua" panose="02040602050305030304" pitchFamily="18" charset="0"/>
              </a:rPr>
              <a:t>Dataset</a:t>
            </a:r>
            <a:r>
              <a:rPr lang="es-MX" sz="2200" b="1" dirty="0">
                <a:latin typeface="Book Antiqua" panose="02040602050305030304" pitchFamily="18" charset="0"/>
              </a:rPr>
              <a:t> final:</a:t>
            </a:r>
            <a:endParaRPr lang="es-MX" sz="22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349K registros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92 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100% numérico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Sin nulos</a:t>
            </a:r>
          </a:p>
          <a:p>
            <a:pPr marL="0" indent="0">
              <a:buNone/>
            </a:pPr>
            <a:endParaRPr lang="es-MX" sz="2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9CC0608-A302-75EE-2565-9F4935EE7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2F2EFF5-3C78-8728-FD26-CE6E606965EE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Preprocesamiento y calidad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DEFCFD-CC53-B386-40FB-F3AB82A16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8474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86075-2A27-7BF6-9C9C-DEBE3E5E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65A08727-F531-F983-B9A6-176A4C5800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4605815"/>
              </p:ext>
            </p:extLst>
          </p:nvPr>
        </p:nvGraphicFramePr>
        <p:xfrm>
          <a:off x="1371600" y="1562034"/>
          <a:ext cx="10017288" cy="3733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548">
                  <a:extLst>
                    <a:ext uri="{9D8B030D-6E8A-4147-A177-3AD203B41FA5}">
                      <a16:colId xmlns:a16="http://schemas.microsoft.com/office/drawing/2014/main" val="2414895234"/>
                    </a:ext>
                  </a:extLst>
                </a:gridCol>
                <a:gridCol w="1669548">
                  <a:extLst>
                    <a:ext uri="{9D8B030D-6E8A-4147-A177-3AD203B41FA5}">
                      <a16:colId xmlns:a16="http://schemas.microsoft.com/office/drawing/2014/main" val="1193701820"/>
                    </a:ext>
                  </a:extLst>
                </a:gridCol>
                <a:gridCol w="1669548">
                  <a:extLst>
                    <a:ext uri="{9D8B030D-6E8A-4147-A177-3AD203B41FA5}">
                      <a16:colId xmlns:a16="http://schemas.microsoft.com/office/drawing/2014/main" val="1633504860"/>
                    </a:ext>
                  </a:extLst>
                </a:gridCol>
                <a:gridCol w="1669548">
                  <a:extLst>
                    <a:ext uri="{9D8B030D-6E8A-4147-A177-3AD203B41FA5}">
                      <a16:colId xmlns:a16="http://schemas.microsoft.com/office/drawing/2014/main" val="4182335131"/>
                    </a:ext>
                  </a:extLst>
                </a:gridCol>
                <a:gridCol w="1669548">
                  <a:extLst>
                    <a:ext uri="{9D8B030D-6E8A-4147-A177-3AD203B41FA5}">
                      <a16:colId xmlns:a16="http://schemas.microsoft.com/office/drawing/2014/main" val="2041344592"/>
                    </a:ext>
                  </a:extLst>
                </a:gridCol>
                <a:gridCol w="1669548">
                  <a:extLst>
                    <a:ext uri="{9D8B030D-6E8A-4147-A177-3AD203B41FA5}">
                      <a16:colId xmlns:a16="http://schemas.microsoft.com/office/drawing/2014/main" val="4264457549"/>
                    </a:ext>
                  </a:extLst>
                </a:gridCol>
              </a:tblGrid>
              <a:tr h="455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  <a:latin typeface="Book Antiqua" panose="02040602050305030304" pitchFamily="18" charset="0"/>
                        </a:rPr>
                        <a:t>Modelo</a:t>
                      </a:r>
                      <a:endParaRPr lang="es-CL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  <a:latin typeface="Book Antiqua" panose="02040602050305030304" pitchFamily="18" charset="0"/>
                        </a:rPr>
                        <a:t>MAE</a:t>
                      </a:r>
                      <a:endParaRPr lang="es-CL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  <a:latin typeface="Book Antiqua" panose="02040602050305030304" pitchFamily="18" charset="0"/>
                        </a:rPr>
                        <a:t>RMSE</a:t>
                      </a:r>
                      <a:endParaRPr lang="es-CL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  <a:latin typeface="Book Antiqua" panose="02040602050305030304" pitchFamily="18" charset="0"/>
                        </a:rPr>
                        <a:t>R²</a:t>
                      </a:r>
                      <a:endParaRPr lang="es-CL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  <a:latin typeface="Book Antiqua" panose="02040602050305030304" pitchFamily="18" charset="0"/>
                        </a:rPr>
                        <a:t>MAPE (%)</a:t>
                      </a:r>
                      <a:endParaRPr lang="es-CL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>
                          <a:effectLst/>
                          <a:latin typeface="Book Antiqua" panose="02040602050305030304" pitchFamily="18" charset="0"/>
                        </a:rPr>
                        <a:t>Peso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7762157"/>
                  </a:ext>
                </a:extLst>
              </a:tr>
              <a:tr h="797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Regresión Lineal</a:t>
                      </a:r>
                      <a:endParaRPr lang="es-CL" dirty="0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0.2892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0.4333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0.8130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115.96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~4KB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548784"/>
                  </a:ext>
                </a:extLst>
              </a:tr>
              <a:tr h="46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Ridge (L2)</a:t>
                      </a:r>
                      <a:endParaRPr lang="es-CL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0.2892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0.4333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0.8130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115.96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~4KB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606402"/>
                  </a:ext>
                </a:extLst>
              </a:tr>
              <a:tr h="46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Lasso (L1)</a:t>
                      </a:r>
                      <a:endParaRPr lang="es-CL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0.2914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0.4381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0.8089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116.98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~4KB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486228"/>
                  </a:ext>
                </a:extLst>
              </a:tr>
              <a:tr h="797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Gradient Boosting</a:t>
                      </a:r>
                      <a:endParaRPr lang="es-CL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0.2412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0.3795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0.8566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120.58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~142KB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187243"/>
                  </a:ext>
                </a:extLst>
              </a:tr>
              <a:tr h="759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Random Forest</a:t>
                      </a:r>
                      <a:endParaRPr lang="es-CL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b="1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0.1017</a:t>
                      </a:r>
                      <a:endParaRPr lang="es-CL" sz="2400" dirty="0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b="1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0.2247</a:t>
                      </a:r>
                      <a:endParaRPr lang="es-CL" sz="2400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b="1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0.9497</a:t>
                      </a:r>
                      <a:endParaRPr lang="es-CL" sz="2400" dirty="0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b="1" dirty="0">
                          <a:solidFill>
                            <a:schemeClr val="tx2"/>
                          </a:solidFill>
                          <a:latin typeface="Book Antiqua" panose="02040602050305030304" pitchFamily="18" charset="0"/>
                        </a:rPr>
                        <a:t>52.14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dirty="0">
                          <a:solidFill>
                            <a:schemeClr val="tx2"/>
                          </a:solidFill>
                          <a:latin typeface="Book Antiqua" panose="02040602050305030304" pitchFamily="18" charset="0"/>
                        </a:rPr>
                        <a:t>~1.5GB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236999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C3B48FE4-236B-85D5-3552-6DF1D0482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El saber no ocupa lugar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3C371C6-0E04-ED8B-BDA4-33281E5AC410}"/>
              </a:ext>
            </a:extLst>
          </p:cNvPr>
          <p:cNvSpPr txBox="1">
            <a:spLocks/>
          </p:cNvSpPr>
          <p:nvPr/>
        </p:nvSpPr>
        <p:spPr>
          <a:xfrm>
            <a:off x="1142081" y="5473165"/>
            <a:ext cx="10447335" cy="1485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Cinto perspectivas distintas para ver al mundo.</a:t>
            </a:r>
            <a:endParaRPr lang="es-CL" sz="2400" b="1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ACAEDB4-1FE0-DADD-CC9D-9BB5AF67E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C24A7A5-0B4F-D2C7-A7E5-F0777D7A70B3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Comparación de técnicas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CD8125-D44A-A012-8F40-687BA7D1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7208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B445F-1B99-1FF4-2ADF-423434DF0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94E6073D-21BB-0980-53E8-6F6638803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972" y="4846829"/>
            <a:ext cx="7934910" cy="81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3200" b="1" dirty="0">
                <a:latin typeface="Book Antiqua" panose="02040602050305030304" pitchFamily="18" charset="0"/>
              </a:rPr>
              <a:t>Varios árboles convergen y predicen.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A42097-DE3D-8B4E-0DDE-DB4285D78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Un bosque que piensa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026086D-025C-9443-F53F-79ED121EBCDE}"/>
              </a:ext>
            </a:extLst>
          </p:cNvPr>
          <p:cNvSpPr txBox="1">
            <a:spLocks/>
          </p:cNvSpPr>
          <p:nvPr/>
        </p:nvSpPr>
        <p:spPr>
          <a:xfrm>
            <a:off x="8169356" y="1721744"/>
            <a:ext cx="3621592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sz="2400" b="1" dirty="0" err="1">
                <a:latin typeface="Book Antiqua" panose="02040602050305030304" pitchFamily="18" charset="0"/>
              </a:rPr>
              <a:t>Hiperparámetros</a:t>
            </a:r>
            <a:r>
              <a:rPr lang="es-CL" sz="2400" b="1" dirty="0">
                <a:latin typeface="Book Antiqua" panose="0204060205030503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dirty="0" err="1">
                <a:latin typeface="Book Antiqua" panose="02040602050305030304" pitchFamily="18" charset="0"/>
              </a:rPr>
              <a:t>n_estimators</a:t>
            </a:r>
            <a:r>
              <a:rPr lang="es-CL" sz="2400" dirty="0">
                <a:latin typeface="Book Antiqua" panose="02040602050305030304" pitchFamily="18" charset="0"/>
              </a:rPr>
              <a:t> = 100</a:t>
            </a:r>
            <a:r>
              <a:rPr lang="es-CL" sz="2800" dirty="0">
                <a:latin typeface="Book Antiqua" panose="0204060205030503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dirty="0" err="1">
                <a:latin typeface="Book Antiqua" panose="02040602050305030304" pitchFamily="18" charset="0"/>
              </a:rPr>
              <a:t>max_depth</a:t>
            </a:r>
            <a:r>
              <a:rPr lang="es-CL" sz="2400" dirty="0">
                <a:latin typeface="Book Antiqua" panose="02040602050305030304" pitchFamily="18" charset="0"/>
              </a:rPr>
              <a:t> = </a:t>
            </a:r>
            <a:r>
              <a:rPr lang="es-CL" sz="2400" dirty="0" err="1">
                <a:latin typeface="Book Antiqua" panose="02040602050305030304" pitchFamily="18" charset="0"/>
              </a:rPr>
              <a:t>None</a:t>
            </a:r>
            <a:r>
              <a:rPr lang="es-CL" sz="2800" dirty="0">
                <a:latin typeface="Book Antiqua" panose="0204060205030503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dirty="0" err="1">
                <a:latin typeface="Book Antiqua" panose="02040602050305030304" pitchFamily="18" charset="0"/>
              </a:rPr>
              <a:t>random_state</a:t>
            </a:r>
            <a:r>
              <a:rPr lang="es-CL" sz="2400" dirty="0">
                <a:latin typeface="Book Antiqua" panose="02040602050305030304" pitchFamily="18" charset="0"/>
              </a:rPr>
              <a:t> = 42</a:t>
            </a:r>
            <a:r>
              <a:rPr lang="es-CL" sz="2800" dirty="0">
                <a:latin typeface="Book Antiqua" panose="0204060205030503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dirty="0" err="1">
                <a:latin typeface="Book Antiqua" panose="02040602050305030304" pitchFamily="18" charset="0"/>
              </a:rPr>
              <a:t>n_jobs</a:t>
            </a:r>
            <a:r>
              <a:rPr lang="es-CL" sz="2400" b="1" dirty="0">
                <a:latin typeface="Book Antiqua" panose="02040602050305030304" pitchFamily="18" charset="0"/>
              </a:rPr>
              <a:t> </a:t>
            </a:r>
            <a:r>
              <a:rPr lang="es-CL" sz="2400" dirty="0">
                <a:latin typeface="Book Antiqua" panose="02040602050305030304" pitchFamily="18" charset="0"/>
              </a:rPr>
              <a:t>= -1</a:t>
            </a:r>
            <a:endParaRPr lang="es-CL" sz="28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D59284F-8963-4360-C0B1-0A4196BE9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0AFCF5C-0E4F-B95B-0A2F-96E67F654A78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Arquitectura del modelo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BB4FA1-C354-35E6-79FC-56771165E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10</a:t>
            </a:fld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85410E-BA58-4775-0E15-BAAB3BEFECEB}"/>
              </a:ext>
            </a:extLst>
          </p:cNvPr>
          <p:cNvSpPr txBox="1">
            <a:spLocks/>
          </p:cNvSpPr>
          <p:nvPr/>
        </p:nvSpPr>
        <p:spPr>
          <a:xfrm>
            <a:off x="4936872" y="1755741"/>
            <a:ext cx="3621592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CL" sz="2400" dirty="0">
              <a:latin typeface="Book Antiqua" panose="0204060205030503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3DD5A1-614E-DA2C-E469-6C1826C2D5AB}"/>
              </a:ext>
            </a:extLst>
          </p:cNvPr>
          <p:cNvSpPr txBox="1"/>
          <p:nvPr/>
        </p:nvSpPr>
        <p:spPr>
          <a:xfrm>
            <a:off x="4391484" y="1755741"/>
            <a:ext cx="3561432" cy="213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err="1">
                <a:solidFill>
                  <a:schemeClr val="tx2"/>
                </a:solidFill>
                <a:latin typeface="Book Antiqua" panose="02040602050305030304" pitchFamily="18" charset="0"/>
              </a:rPr>
              <a:t>Parametros</a:t>
            </a:r>
            <a:r>
              <a:rPr lang="es-MX" sz="2800" b="1" dirty="0">
                <a:solidFill>
                  <a:schemeClr val="tx2"/>
                </a:solidFill>
                <a:latin typeface="Book Antiqua" panose="02040602050305030304" pitchFamily="18" charset="0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>
                <a:solidFill>
                  <a:schemeClr val="tx2"/>
                </a:solidFill>
                <a:latin typeface="Book Antiqua" panose="02040602050305030304" pitchFamily="18" charset="0"/>
              </a:rPr>
              <a:t>Nodos totales:</a:t>
            </a:r>
            <a:r>
              <a:rPr lang="es-MX" sz="2400" dirty="0">
                <a:solidFill>
                  <a:schemeClr val="tx2"/>
                </a:solidFill>
                <a:latin typeface="Book Antiqua" panose="02040602050305030304" pitchFamily="18" charset="0"/>
              </a:rPr>
              <a:t> 22M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>
                <a:solidFill>
                  <a:schemeClr val="tx2"/>
                </a:solidFill>
                <a:latin typeface="Book Antiqua" panose="02040602050305030304" pitchFamily="18" charset="0"/>
              </a:rPr>
              <a:t>Nodos/árbol:</a:t>
            </a:r>
            <a:r>
              <a:rPr lang="es-MX" sz="2400" dirty="0">
                <a:solidFill>
                  <a:schemeClr val="tx2"/>
                </a:solidFill>
                <a:latin typeface="Book Antiqua" panose="02040602050305030304" pitchFamily="18" charset="0"/>
              </a:rPr>
              <a:t> ~221K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>
                <a:solidFill>
                  <a:schemeClr val="tx2"/>
                </a:solidFill>
                <a:latin typeface="Book Antiqua" panose="02040602050305030304" pitchFamily="18" charset="0"/>
              </a:rPr>
              <a:t>Profundidad:</a:t>
            </a:r>
            <a:r>
              <a:rPr lang="es-MX" sz="2400" dirty="0">
                <a:solidFill>
                  <a:schemeClr val="tx2"/>
                </a:solidFill>
                <a:latin typeface="Book Antiqua" panose="02040602050305030304" pitchFamily="18" charset="0"/>
              </a:rPr>
              <a:t> ~50</a:t>
            </a:r>
            <a:endParaRPr lang="es-CL" sz="2400" dirty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pic>
        <p:nvPicPr>
          <p:cNvPr id="5122" name="Picture 2" descr="bosque ">
            <a:extLst>
              <a:ext uri="{FF2B5EF4-FFF2-40B4-BE49-F238E27FC236}">
                <a16:creationId xmlns:a16="http://schemas.microsoft.com/office/drawing/2014/main" id="{412F2180-F3C1-8438-91B5-771FD24C9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28750"/>
            <a:ext cx="2727960" cy="272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572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F424-CC32-E9F1-0C0E-297F00596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735CEE8-00F0-E871-A031-E7D4655E6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63" y="1337589"/>
            <a:ext cx="5903495" cy="460264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0CC7F78-6DA0-D99D-98BF-E0AD0E0A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71" y="458432"/>
            <a:ext cx="9553074" cy="811163"/>
          </a:xfrm>
        </p:spPr>
        <p:txBody>
          <a:bodyPr>
            <a:normAutofit/>
          </a:bodyPr>
          <a:lstStyle/>
          <a:p>
            <a:r>
              <a:rPr lang="es-MX" b="1" dirty="0">
                <a:latin typeface="Congenial" panose="02000503040000020004" pitchFamily="2" charset="0"/>
              </a:rPr>
              <a:t>Una idea que comienza a respirar</a:t>
            </a:r>
            <a:endParaRPr lang="es-CL" b="1" dirty="0">
              <a:latin typeface="Congenial" panose="02000503040000020004" pitchFamily="2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123D46B-B929-C458-BA61-1F2E51BC9562}"/>
              </a:ext>
            </a:extLst>
          </p:cNvPr>
          <p:cNvSpPr txBox="1">
            <a:spLocks/>
          </p:cNvSpPr>
          <p:nvPr/>
        </p:nvSpPr>
        <p:spPr>
          <a:xfrm>
            <a:off x="7475621" y="1936215"/>
            <a:ext cx="4022645" cy="4257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Lógica simulada:</a:t>
            </a:r>
            <a:endParaRPr lang="es-MX" sz="24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Precio 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Ajuste por año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Penalización por kilometraje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Ajuste por marca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Variación ±5%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D9DFDCE-62BD-DDF9-1DAE-3F6DBB828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9AD7C4F-DF52-8F63-1B48-925DF355A8CA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Validación experimental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CC6DF1-0A10-6A85-1659-A1FC89D0D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6079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392E7-833D-1941-3C9E-085AE52D7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73F119-22B3-EDEF-9D69-D8F593729F59}"/>
              </a:ext>
            </a:extLst>
          </p:cNvPr>
          <p:cNvSpPr txBox="1">
            <a:spLocks/>
          </p:cNvSpPr>
          <p:nvPr/>
        </p:nvSpPr>
        <p:spPr>
          <a:xfrm>
            <a:off x="4747530" y="1908141"/>
            <a:ext cx="3894308" cy="385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3200" b="1" dirty="0">
                <a:latin typeface="Book Antiqua" panose="02040602050305030304" pitchFamily="18" charset="0"/>
              </a:rPr>
              <a:t>Métricas: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R²</a:t>
            </a:r>
            <a:r>
              <a:rPr lang="es-MX" sz="3200" dirty="0">
                <a:latin typeface="Book Antiqua" panose="02040602050305030304" pitchFamily="18" charset="0"/>
              </a:rPr>
              <a:t> → 0.95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MAE </a:t>
            </a:r>
            <a:r>
              <a:rPr lang="es-MX" sz="3200" dirty="0">
                <a:latin typeface="Book Antiqua" panose="02040602050305030304" pitchFamily="18" charset="0"/>
              </a:rPr>
              <a:t>→ 0.10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RMSE </a:t>
            </a:r>
            <a:r>
              <a:rPr lang="es-MX" sz="3200" dirty="0">
                <a:latin typeface="Book Antiqua" panose="02040602050305030304" pitchFamily="18" charset="0"/>
              </a:rPr>
              <a:t>→ 0.22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MAPE</a:t>
            </a:r>
            <a:r>
              <a:rPr lang="es-MX" sz="3200" dirty="0">
                <a:latin typeface="Book Antiqua" panose="02040602050305030304" pitchFamily="18" charset="0"/>
              </a:rPr>
              <a:t> → 52%</a:t>
            </a:r>
          </a:p>
          <a:p>
            <a:pPr marL="0" indent="0" algn="ctr">
              <a:buNone/>
            </a:pPr>
            <a:endParaRPr lang="es-CL" sz="2400" b="1" baseline="30000" dirty="0">
              <a:latin typeface="Book Antiqua" panose="0204060205030503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0FAE15-BD8B-4808-4838-93C5540DB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Revelando lo qué importa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EA9FD74-858B-1AFF-B405-D99EB261338D}"/>
              </a:ext>
            </a:extLst>
          </p:cNvPr>
          <p:cNvSpPr txBox="1">
            <a:spLocks/>
          </p:cNvSpPr>
          <p:nvPr/>
        </p:nvSpPr>
        <p:spPr>
          <a:xfrm>
            <a:off x="7860165" y="1908141"/>
            <a:ext cx="3894308" cy="385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3200" b="1" dirty="0">
                <a:latin typeface="Book Antiqua" panose="02040602050305030304" pitchFamily="18" charset="0"/>
              </a:rPr>
              <a:t>Top variables:</a:t>
            </a:r>
            <a:endParaRPr lang="es-MX" sz="32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Modelo </a:t>
            </a:r>
            <a:r>
              <a:rPr lang="es-MX" sz="3200" dirty="0">
                <a:latin typeface="Book Antiqua" panose="02040602050305030304" pitchFamily="18" charset="0"/>
              </a:rPr>
              <a:t>~60%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Año </a:t>
            </a:r>
            <a:r>
              <a:rPr lang="es-MX" sz="3200" dirty="0">
                <a:latin typeface="Book Antiqua" panose="02040602050305030304" pitchFamily="18" charset="0"/>
              </a:rPr>
              <a:t>~21%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Kilometraje</a:t>
            </a:r>
            <a:r>
              <a:rPr lang="es-MX" sz="3200" dirty="0">
                <a:latin typeface="Book Antiqua" panose="02040602050305030304" pitchFamily="18" charset="0"/>
              </a:rPr>
              <a:t> ~5%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s-CL" sz="2400" b="1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A6BD0D3-9EBD-B07C-5F77-4402040BC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03FFBE2-707D-B409-6A3A-54BF02EFD768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Evaluación e interpretabilidad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76A8E1-3B6B-0C44-1BF0-D2232D84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12</a:t>
            </a:fld>
            <a:endParaRPr lang="es-CL"/>
          </a:p>
        </p:txBody>
      </p:sp>
      <p:pic>
        <p:nvPicPr>
          <p:cNvPr id="6146" name="Picture 2" descr="coche ">
            <a:extLst>
              <a:ext uri="{FF2B5EF4-FFF2-40B4-BE49-F238E27FC236}">
                <a16:creationId xmlns:a16="http://schemas.microsoft.com/office/drawing/2014/main" id="{CF6CB4ED-D405-2208-5F40-1469F3F8F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937" y="1676488"/>
            <a:ext cx="3078393" cy="307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170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6310E-8C29-6254-AB67-9C07BDD9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E7AEE45-3084-6233-6B2D-4951DD5AE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6" b="9575"/>
          <a:stretch>
            <a:fillRect/>
          </a:stretch>
        </p:blipFill>
        <p:spPr>
          <a:xfrm>
            <a:off x="6699651" y="292534"/>
            <a:ext cx="4856056" cy="514756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1CF6605-FAE3-3894-B4AC-C29E74271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63" y="292534"/>
            <a:ext cx="6544377" cy="2953586"/>
          </a:xfrm>
        </p:spPr>
        <p:txBody>
          <a:bodyPr>
            <a:normAutofit/>
          </a:bodyPr>
          <a:lstStyle/>
          <a:p>
            <a:r>
              <a:rPr lang="es-CL" sz="7200" b="1" dirty="0">
                <a:latin typeface="Congenial" panose="02000503040000020004" pitchFamily="2" charset="0"/>
              </a:rPr>
              <a:t>Un flujo reproducible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635E701-9C46-96A5-0BF4-E3DEC0744D53}"/>
              </a:ext>
            </a:extLst>
          </p:cNvPr>
          <p:cNvSpPr txBox="1">
            <a:spLocks/>
          </p:cNvSpPr>
          <p:nvPr/>
        </p:nvSpPr>
        <p:spPr>
          <a:xfrm>
            <a:off x="1243263" y="3429000"/>
            <a:ext cx="4852737" cy="2438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4400" b="1" baseline="30000" dirty="0">
                <a:latin typeface="Congenial Black" panose="02000503040000020004" pitchFamily="2" charset="0"/>
              </a:rPr>
              <a:t>Arquitectura modular</a:t>
            </a:r>
          </a:p>
          <a:p>
            <a:pPr marL="0" indent="0" algn="ctr">
              <a:buNone/>
            </a:pPr>
            <a:r>
              <a:rPr lang="es-MX" sz="4400" b="1" baseline="30000" dirty="0">
                <a:latin typeface="Congenial Black" panose="02000503040000020004" pitchFamily="2" charset="0"/>
              </a:rPr>
              <a:t>Reproducible </a:t>
            </a:r>
            <a:r>
              <a:rPr lang="es-MX" sz="4400" b="1" baseline="30000" dirty="0" err="1">
                <a:latin typeface="Congenial Black" panose="02000503040000020004" pitchFamily="2" charset="0"/>
              </a:rPr>
              <a:t>end-to-end</a:t>
            </a:r>
            <a:endParaRPr lang="es-CL" sz="4400" b="1" baseline="30000" dirty="0">
              <a:latin typeface="Congenial Black" panose="02000503040000020004" pitchFamily="2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2F86037-0C17-150A-D7EB-5E3FD85EF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8282DD4-59FA-5148-D376-5F50C5112C9C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Sistema y pipeline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A91E30-09F3-6876-FB5C-9CFC5FF8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5390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538F4-6C66-0202-03B5-4D9F2236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C49094B-7BC1-9689-A551-ED3C9F52ED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3186"/>
            <a:ext cx="5928360" cy="5580378"/>
          </a:xfrm>
          <a:prstGeom prst="roundRect">
            <a:avLst>
              <a:gd name="adj" fmla="val 563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60F21F8-3205-683F-37AA-16B967B25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426" y="696938"/>
            <a:ext cx="4724400" cy="1680502"/>
          </a:xfrm>
        </p:spPr>
        <p:txBody>
          <a:bodyPr>
            <a:normAutofit/>
          </a:bodyPr>
          <a:lstStyle/>
          <a:p>
            <a:r>
              <a:rPr lang="es-MX" sz="5400" b="1" dirty="0">
                <a:latin typeface="Congenial" panose="02000503040000020004" pitchFamily="2" charset="0"/>
              </a:rPr>
              <a:t>Cada pieza tiene su lugar</a:t>
            </a:r>
            <a:endParaRPr lang="es-CL" sz="5400" b="1" dirty="0">
              <a:latin typeface="Congenial" panose="02000503040000020004" pitchFamily="2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0875BD7-2A64-9A9E-CAC1-52E8931AA382}"/>
              </a:ext>
            </a:extLst>
          </p:cNvPr>
          <p:cNvSpPr txBox="1">
            <a:spLocks/>
          </p:cNvSpPr>
          <p:nvPr/>
        </p:nvSpPr>
        <p:spPr>
          <a:xfrm>
            <a:off x="701181" y="2686050"/>
            <a:ext cx="3785937" cy="1485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CL" sz="2400" b="1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9AAC715-3702-037B-668B-400939221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95B6A-26B0-600D-7779-B433038F32A7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Repositorio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4B3649-A8CF-3FA5-D7CE-116B9750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14</a:t>
            </a:fld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BCE471-A9D5-739D-F6E3-AF7C32F05DE1}"/>
              </a:ext>
            </a:extLst>
          </p:cNvPr>
          <p:cNvSpPr txBox="1"/>
          <p:nvPr/>
        </p:nvSpPr>
        <p:spPr>
          <a:xfrm>
            <a:off x="1222708" y="2377440"/>
            <a:ext cx="6096000" cy="3278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CL" sz="2000" b="1" dirty="0">
                <a:solidFill>
                  <a:schemeClr val="tx2"/>
                </a:solidFill>
                <a:latin typeface="Book Antiqua" panose="02040602050305030304" pitchFamily="18" charset="0"/>
              </a:rPr>
              <a:t>Arquitectura:</a:t>
            </a:r>
            <a:endParaRPr lang="es-CL" sz="2000" dirty="0">
              <a:solidFill>
                <a:schemeClr val="tx2"/>
              </a:solidFill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2000" b="1" dirty="0">
                <a:solidFill>
                  <a:schemeClr val="tx2"/>
                </a:solidFill>
                <a:latin typeface="Book Antiqua" panose="02040602050305030304" pitchFamily="18" charset="0"/>
              </a:rPr>
              <a:t>data</a:t>
            </a:r>
            <a:r>
              <a:rPr lang="es-CL" sz="2000" dirty="0">
                <a:solidFill>
                  <a:schemeClr val="tx2"/>
                </a:solidFill>
                <a:latin typeface="Book Antiqua" panose="02040602050305030304" pitchFamily="18" charset="0"/>
              </a:rPr>
              <a:t>/ → datos crudos y procesados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2000" b="1" dirty="0">
                <a:solidFill>
                  <a:schemeClr val="tx2"/>
                </a:solidFill>
                <a:latin typeface="Book Antiqua" panose="02040602050305030304" pitchFamily="18" charset="0"/>
              </a:rPr>
              <a:t>notebooks</a:t>
            </a:r>
            <a:r>
              <a:rPr lang="es-CL" sz="2000" dirty="0">
                <a:solidFill>
                  <a:schemeClr val="tx2"/>
                </a:solidFill>
                <a:latin typeface="Book Antiqua" panose="02040602050305030304" pitchFamily="18" charset="0"/>
              </a:rPr>
              <a:t>/ → exploración y análisis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2000" b="1" dirty="0" err="1">
                <a:solidFill>
                  <a:schemeClr val="tx2"/>
                </a:solidFill>
                <a:latin typeface="Book Antiqua" panose="02040602050305030304" pitchFamily="18" charset="0"/>
              </a:rPr>
              <a:t>src</a:t>
            </a:r>
            <a:r>
              <a:rPr lang="es-CL" sz="2000" dirty="0">
                <a:solidFill>
                  <a:schemeClr val="tx2"/>
                </a:solidFill>
                <a:latin typeface="Book Antiqua" panose="02040602050305030304" pitchFamily="18" charset="0"/>
              </a:rPr>
              <a:t>/ → lógica y entrenamiento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2000" b="1" dirty="0" err="1">
                <a:solidFill>
                  <a:schemeClr val="tx2"/>
                </a:solidFill>
                <a:latin typeface="Book Antiqua" panose="02040602050305030304" pitchFamily="18" charset="0"/>
              </a:rPr>
              <a:t>models</a:t>
            </a:r>
            <a:r>
              <a:rPr lang="es-CL" sz="2000" dirty="0">
                <a:solidFill>
                  <a:schemeClr val="tx2"/>
                </a:solidFill>
                <a:latin typeface="Book Antiqua" panose="02040602050305030304" pitchFamily="18" charset="0"/>
              </a:rPr>
              <a:t>/ → artefactos entrenados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2000" b="1" dirty="0" err="1">
                <a:solidFill>
                  <a:schemeClr val="tx2"/>
                </a:solidFill>
                <a:latin typeface="Book Antiqua" panose="02040602050305030304" pitchFamily="18" charset="0"/>
              </a:rPr>
              <a:t>results</a:t>
            </a:r>
            <a:r>
              <a:rPr lang="es-CL" sz="2000" dirty="0">
                <a:solidFill>
                  <a:schemeClr val="tx2"/>
                </a:solidFill>
                <a:latin typeface="Book Antiqua" panose="02040602050305030304" pitchFamily="18" charset="0"/>
              </a:rPr>
              <a:t>/ → métricas y outputs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2000" b="1" dirty="0" err="1">
                <a:solidFill>
                  <a:schemeClr val="tx2"/>
                </a:solidFill>
                <a:latin typeface="Book Antiqua" panose="02040602050305030304" pitchFamily="18" charset="0"/>
              </a:rPr>
              <a:t>reports</a:t>
            </a:r>
            <a:r>
              <a:rPr lang="es-CL" sz="2000" dirty="0">
                <a:solidFill>
                  <a:schemeClr val="tx2"/>
                </a:solidFill>
                <a:latin typeface="Book Antiqua" panose="02040602050305030304" pitchFamily="18" charset="0"/>
              </a:rPr>
              <a:t>/ → documentación</a:t>
            </a:r>
          </a:p>
        </p:txBody>
      </p:sp>
    </p:spTree>
    <p:extLst>
      <p:ext uri="{BB962C8B-B14F-4D97-AF65-F5344CB8AC3E}">
        <p14:creationId xmlns:p14="http://schemas.microsoft.com/office/powerpoint/2010/main" val="4231061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79942-AB09-6120-A821-F7AD8578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01DD2-7C60-2E6F-C969-1C89290E8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ngenial" panose="02000503040000020004" pitchFamily="2" charset="0"/>
              </a:rPr>
              <a:t>Choque de realidad</a:t>
            </a:r>
            <a:endParaRPr lang="es-CL" b="1" dirty="0">
              <a:latin typeface="Congenial" panose="02000503040000020004" pitchFamily="2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31934CF-A3AE-804F-8D51-108420265E9B}"/>
              </a:ext>
            </a:extLst>
          </p:cNvPr>
          <p:cNvSpPr txBox="1">
            <a:spLocks/>
          </p:cNvSpPr>
          <p:nvPr/>
        </p:nvSpPr>
        <p:spPr>
          <a:xfrm>
            <a:off x="1493820" y="1576218"/>
            <a:ext cx="4343100" cy="4154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Limitaciones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Datos ruidosos y no controlados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Desbalance de marcas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 err="1">
                <a:latin typeface="Book Antiqua" panose="02040602050305030304" pitchFamily="18" charset="0"/>
              </a:rPr>
              <a:t>Dataset</a:t>
            </a:r>
            <a:r>
              <a:rPr lang="es-MX" sz="2400" dirty="0">
                <a:latin typeface="Book Antiqua" panose="02040602050305030304" pitchFamily="18" charset="0"/>
              </a:rPr>
              <a:t> de EE.UU, no local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Variables no estructuradas excluidas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Modelo pesado de ~1.5 GB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782D84C-BC46-1E90-5641-B62182CC1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99EC8AB-18D1-3373-0422-66B721BC33C7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Mejoras y limitaciones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FBB79-B349-0E2A-A05E-944A41AA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15</a:t>
            </a:fld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7DCD97-95C2-D2CD-FD63-5502DFDD6474}"/>
              </a:ext>
            </a:extLst>
          </p:cNvPr>
          <p:cNvSpPr txBox="1">
            <a:spLocks/>
          </p:cNvSpPr>
          <p:nvPr/>
        </p:nvSpPr>
        <p:spPr>
          <a:xfrm>
            <a:off x="6096000" y="1576217"/>
            <a:ext cx="5227320" cy="3998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Mejoras posibles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Datos del mercado chileno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Optimización de modelos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Mejor preprocesamiento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Sistema real e integrado</a:t>
            </a:r>
          </a:p>
        </p:txBody>
      </p:sp>
      <p:pic>
        <p:nvPicPr>
          <p:cNvPr id="1026" name="Picture 2" descr="Choque de autos ">
            <a:extLst>
              <a:ext uri="{FF2B5EF4-FFF2-40B4-BE49-F238E27FC236}">
                <a16:creationId xmlns:a16="http://schemas.microsoft.com/office/drawing/2014/main" id="{E9F326F5-DEE7-B4D8-67DD-B7A0583E7B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55"/>
          <a:stretch>
            <a:fillRect/>
          </a:stretch>
        </p:blipFill>
        <p:spPr bwMode="auto">
          <a:xfrm>
            <a:off x="7074568" y="4074695"/>
            <a:ext cx="2679032" cy="193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842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82CF0-F4B3-4FAD-EA63-BEDADFDCB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2D7C1-31F7-8861-99C4-161659D6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Del dato al entendimiento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5EFBCB5-3841-B9C1-9752-93E7A52A504F}"/>
              </a:ext>
            </a:extLst>
          </p:cNvPr>
          <p:cNvSpPr txBox="1">
            <a:spLocks/>
          </p:cNvSpPr>
          <p:nvPr/>
        </p:nvSpPr>
        <p:spPr>
          <a:xfrm>
            <a:off x="1371600" y="1478280"/>
            <a:ext cx="4312920" cy="4278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CL" sz="2800" b="1" dirty="0">
                <a:latin typeface="Book Antiqua" panose="02040602050305030304" pitchFamily="18" charset="0"/>
              </a:rPr>
              <a:t>Resultado</a:t>
            </a:r>
            <a:endParaRPr lang="es-CL" sz="28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latin typeface="Book Antiqua" panose="02040602050305030304" pitchFamily="18" charset="0"/>
              </a:rPr>
              <a:t>R² ≈ 0.95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latin typeface="Book Antiqua" panose="02040602050305030304" pitchFamily="18" charset="0"/>
              </a:rPr>
              <a:t>Modelo no lineal dominante </a:t>
            </a:r>
          </a:p>
          <a:p>
            <a:pPr>
              <a:buNone/>
            </a:pPr>
            <a:r>
              <a:rPr lang="es-CL" sz="2800" b="1" dirty="0">
                <a:latin typeface="Book Antiqua" panose="02040602050305030304" pitchFamily="18" charset="0"/>
              </a:rPr>
              <a:t> Proceso</a:t>
            </a:r>
            <a:endParaRPr lang="es-CL" sz="28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latin typeface="Book Antiqua" panose="02040602050305030304" pitchFamily="18" charset="0"/>
              </a:rPr>
              <a:t>Pipeline completo y reproducible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latin typeface="Book Antiqua" panose="02040602050305030304" pitchFamily="18" charset="0"/>
              </a:rPr>
              <a:t>Arquitectura modular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07C3AC3-F6FB-534E-65BA-E2B04F134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C8B71F1-781C-FA28-468A-CC0C52882CA6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Conclusiones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0F6296-9F04-02D9-DB02-0E088E0B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16</a:t>
            </a:fld>
            <a:endParaRPr lang="es-CL"/>
          </a:p>
        </p:txBody>
      </p:sp>
      <p:pic>
        <p:nvPicPr>
          <p:cNvPr id="8194" name="Picture 2" descr="lista de tareas ">
            <a:hlinkClick r:id="rId3" tooltip="lista de tareas"/>
            <a:extLst>
              <a:ext uri="{FF2B5EF4-FFF2-40B4-BE49-F238E27FC236}">
                <a16:creationId xmlns:a16="http://schemas.microsoft.com/office/drawing/2014/main" id="{B93664F5-80F7-41DF-FF61-3358E606B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620" y="1860992"/>
            <a:ext cx="2926080" cy="292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5787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0BD2A-CD36-A65E-F7FC-01FE8C24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E7D5E-DCBC-9E8C-FABE-20193E437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3869" y="1641239"/>
            <a:ext cx="6178030" cy="2098226"/>
          </a:xfrm>
        </p:spPr>
        <p:txBody>
          <a:bodyPr/>
          <a:lstStyle/>
          <a:p>
            <a:pPr algn="l"/>
            <a:r>
              <a:rPr lang="es-CL" sz="4800" dirty="0">
                <a:latin typeface="Congenial Black" panose="020F0502020204030204" pitchFamily="2" charset="0"/>
              </a:rPr>
              <a:t>Choque de realidad</a:t>
            </a:r>
            <a:br>
              <a:rPr lang="es-CL" dirty="0">
                <a:latin typeface="Congenial Black" panose="020F0502020204030204" pitchFamily="2" charset="0"/>
              </a:rPr>
            </a:br>
            <a:endParaRPr lang="es-CL" dirty="0">
              <a:latin typeface="Congenial Black" panose="020F0502020204030204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D7F4A6-D166-5A2D-6A3D-A1A77D905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3869" y="2690352"/>
            <a:ext cx="7468417" cy="2378242"/>
          </a:xfrm>
        </p:spPr>
        <p:txBody>
          <a:bodyPr>
            <a:normAutofit/>
          </a:bodyPr>
          <a:lstStyle/>
          <a:p>
            <a:pPr algn="l"/>
            <a:r>
              <a:rPr lang="es-CL" sz="2800" b="1" dirty="0">
                <a:latin typeface="Book Antiqua" panose="02040602050305030304" pitchFamily="18" charset="0"/>
              </a:rPr>
              <a:t>Celso Farías</a:t>
            </a:r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</a:p>
          <a:p>
            <a:pPr algn="l"/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Omar Salinas</a:t>
            </a:r>
          </a:p>
          <a:p>
            <a:pPr algn="l"/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CIENCIA DE DATOS</a:t>
            </a:r>
          </a:p>
          <a:p>
            <a:pPr algn="l"/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Universidad Andrés Bello, Viña del Mar.</a:t>
            </a:r>
          </a:p>
          <a:p>
            <a:pPr algn="l"/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02 de mayo de 2026</a:t>
            </a: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73B51060-B7FB-0CB1-975B-8C50A2FB40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20" b="62413" l="9961" r="89844">
                        <a14:foregroundMark x1="43750" y1="54988" x2="43555" y2="19722"/>
                        <a14:foregroundMark x1="43555" y1="19722" x2="36914" y2="29466"/>
                        <a14:foregroundMark x1="36914" y1="29466" x2="46094" y2="24594"/>
                        <a14:foregroundMark x1="46094" y1="24594" x2="46289" y2="38747"/>
                        <a14:foregroundMark x1="46289" y1="38747" x2="46484" y2="33875"/>
                        <a14:foregroundMark x1="53320" y1="17169" x2="45313" y2="27610"/>
                        <a14:foregroundMark x1="45313" y1="27610" x2="53125" y2="50812"/>
                        <a14:foregroundMark x1="53125" y1="50812" x2="57813" y2="25754"/>
                        <a14:foregroundMark x1="57813" y1="25754" x2="45117" y2="41763"/>
                        <a14:foregroundMark x1="45117" y1="41763" x2="42383" y2="27610"/>
                        <a14:foregroundMark x1="42383" y1="27610" x2="55664" y2="39211"/>
                        <a14:foregroundMark x1="55664" y1="39211" x2="58398" y2="21578"/>
                        <a14:foregroundMark x1="58398" y1="21578" x2="49414" y2="10209"/>
                        <a14:foregroundMark x1="49414" y1="10209" x2="37109" y2="27610"/>
                        <a14:foregroundMark x1="37109" y1="27610" x2="39063" y2="42227"/>
                        <a14:foregroundMark x1="39063" y1="42227" x2="49414" y2="51276"/>
                        <a14:foregroundMark x1="49414" y1="51276" x2="60547" y2="44084"/>
                        <a14:foregroundMark x1="60547" y1="44084" x2="64258" y2="23898"/>
                        <a14:foregroundMark x1="64258" y1="23898" x2="57227" y2="14849"/>
                        <a14:foregroundMark x1="57227" y1="14849" x2="52344" y2="12297"/>
                        <a14:foregroundMark x1="50000" y1="11601" x2="33008" y2="35499"/>
                        <a14:foregroundMark x1="33008" y1="35499" x2="36914" y2="50348"/>
                        <a14:foregroundMark x1="36914" y1="50348" x2="41211" y2="52204"/>
                        <a14:foregroundMark x1="40625" y1="14385" x2="33594" y2="30626"/>
                        <a14:foregroundMark x1="33594" y1="30626" x2="33203" y2="32947"/>
                        <a14:foregroundMark x1="57031" y1="4408" x2="44922" y2="5104"/>
                        <a14:foregroundMark x1="47070" y1="61949" x2="47070" y2="61949"/>
                        <a14:foregroundMark x1="67383" y1="61949" x2="67383" y2="61949"/>
                        <a14:foregroundMark x1="29297" y1="62413" x2="29297" y2="62413"/>
                        <a14:foregroundMark x1="50000" y1="2320" x2="50000" y2="2320"/>
                        <a14:foregroundMark x1="60352" y1="57773" x2="60352" y2="577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1311"/>
          <a:stretch>
            <a:fillRect/>
          </a:stretch>
        </p:blipFill>
        <p:spPr bwMode="auto">
          <a:xfrm>
            <a:off x="9562679" y="147451"/>
            <a:ext cx="2749725" cy="1525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FE8F1F-0CF1-3925-A427-7C91CA7A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17</a:t>
            </a:fld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A8D14F0-8E5B-63BF-D7C5-0911BE7E688A}"/>
              </a:ext>
            </a:extLst>
          </p:cNvPr>
          <p:cNvSpPr txBox="1"/>
          <p:nvPr/>
        </p:nvSpPr>
        <p:spPr>
          <a:xfrm>
            <a:off x="5254182" y="2262648"/>
            <a:ext cx="5573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7200" b="1" dirty="0">
                <a:solidFill>
                  <a:schemeClr val="tx2"/>
                </a:solidFill>
                <a:latin typeface="Congenial Black" panose="02000503040000020004" pitchFamily="2" charset="0"/>
              </a:rPr>
              <a:t>CONSULTAS</a:t>
            </a:r>
          </a:p>
        </p:txBody>
      </p:sp>
    </p:spTree>
    <p:extLst>
      <p:ext uri="{BB962C8B-B14F-4D97-AF65-F5344CB8AC3E}">
        <p14:creationId xmlns:p14="http://schemas.microsoft.com/office/powerpoint/2010/main" val="2499093397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Recorte</Template>
  <TotalTime>1596</TotalTime>
  <Words>631</Words>
  <Application>Microsoft Office PowerPoint</Application>
  <PresentationFormat>Panorámica</PresentationFormat>
  <Paragraphs>194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Aptos</vt:lpstr>
      <vt:lpstr>Arial</vt:lpstr>
      <vt:lpstr>Book Antiqua</vt:lpstr>
      <vt:lpstr>Congenial</vt:lpstr>
      <vt:lpstr>Congenial Black</vt:lpstr>
      <vt:lpstr>Franklin Gothic Book</vt:lpstr>
      <vt:lpstr>Recorte</vt:lpstr>
      <vt:lpstr>Choque de realidad Proyecto de Regresión con ciencia de datos</vt:lpstr>
      <vt:lpstr>Caos en el Mercado</vt:lpstr>
      <vt:lpstr>El origen del saber</vt:lpstr>
      <vt:lpstr>Un sistema vivo</vt:lpstr>
      <vt:lpstr>Un océano de datos</vt:lpstr>
      <vt:lpstr>Del problema al sistema</vt:lpstr>
      <vt:lpstr>Los datos hablan</vt:lpstr>
      <vt:lpstr>Purgando el mundo</vt:lpstr>
      <vt:lpstr>El saber no ocupa lugar</vt:lpstr>
      <vt:lpstr>Un bosque que piensa</vt:lpstr>
      <vt:lpstr>Una idea que comienza a respirar</vt:lpstr>
      <vt:lpstr>Revelando lo qué importa</vt:lpstr>
      <vt:lpstr>Un flujo reproducible</vt:lpstr>
      <vt:lpstr>Cada pieza tiene su lugar</vt:lpstr>
      <vt:lpstr>Choque de realidad</vt:lpstr>
      <vt:lpstr>Del dato al entendimiento</vt:lpstr>
      <vt:lpstr>Choque de realidad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FARÍAS ARAYA CELSO F</dc:creator>
  <cp:lastModifiedBy>celso farias</cp:lastModifiedBy>
  <cp:revision>40</cp:revision>
  <dcterms:created xsi:type="dcterms:W3CDTF">2025-06-23T23:45:20Z</dcterms:created>
  <dcterms:modified xsi:type="dcterms:W3CDTF">2026-05-03T17:45:05Z</dcterms:modified>
</cp:coreProperties>
</file>