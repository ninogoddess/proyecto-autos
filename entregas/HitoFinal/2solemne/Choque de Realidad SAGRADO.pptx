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6" r:id="rId7"/>
    <p:sldId id="262" r:id="rId8"/>
    <p:sldId id="267" r:id="rId9"/>
    <p:sldId id="261" r:id="rId10"/>
    <p:sldId id="263" r:id="rId11"/>
    <p:sldId id="268" r:id="rId12"/>
    <p:sldId id="264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E01DB04-E15C-3223-F49B-DE929EA23088}" name="celso farias" initials="cf" userId="25c7f24a5fa08e9a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1313"/>
    <a:srgbClr val="1ED760"/>
    <a:srgbClr val="12273F"/>
    <a:srgbClr val="008000"/>
    <a:srgbClr val="9D968E"/>
    <a:srgbClr val="144727"/>
    <a:srgbClr val="131413"/>
    <a:srgbClr val="282827"/>
    <a:srgbClr val="1B1A18"/>
    <a:srgbClr val="30C9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59" autoAdjust="0"/>
    <p:restoredTop sz="63793" autoAdjust="0"/>
  </p:normalViewPr>
  <p:slideViewPr>
    <p:cSldViewPr snapToGrid="0" snapToObjects="1">
      <p:cViewPr varScale="1">
        <p:scale>
          <a:sx n="44" d="100"/>
          <a:sy n="44" d="100"/>
        </p:scale>
        <p:origin x="183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9184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</a:t>
            </a:r>
            <a:r>
              <a:rPr lang="en-US" dirty="0" err="1"/>
              <a:t>alguien</a:t>
            </a:r>
            <a:r>
              <a:rPr lang="en-US" dirty="0"/>
              <a:t> me </a:t>
            </a:r>
            <a:r>
              <a:rPr lang="en-US" dirty="0" err="1"/>
              <a:t>regunta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precio</a:t>
            </a:r>
            <a:r>
              <a:rPr lang="en-US" dirty="0"/>
              <a:t>…</a:t>
            </a:r>
          </a:p>
          <a:p>
            <a:r>
              <a:rPr lang="en-US" dirty="0"/>
              <a:t>Si </a:t>
            </a:r>
            <a:r>
              <a:rPr lang="en-US" dirty="0" err="1"/>
              <a:t>preguntamos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precio</a:t>
            </a:r>
            <a:r>
              <a:rPr lang="en-US" dirty="0"/>
              <a:t> a 10…</a:t>
            </a:r>
          </a:p>
          <a:p>
            <a:r>
              <a:rPr lang="en-US" dirty="0"/>
              <a:t>Choque de </a:t>
            </a:r>
            <a:r>
              <a:rPr lang="en-US" dirty="0" err="1"/>
              <a:t>realidad</a:t>
            </a:r>
            <a:r>
              <a:rPr lang="en-US" dirty="0"/>
              <a:t> </a:t>
            </a:r>
            <a:r>
              <a:rPr lang="en-US" dirty="0" err="1"/>
              <a:t>responde</a:t>
            </a:r>
            <a:r>
              <a:rPr lang="en-US" dirty="0"/>
              <a:t> a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pregunta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puede</a:t>
            </a:r>
            <a:r>
              <a:rPr lang="en-US" dirty="0"/>
              <a:t> </a:t>
            </a:r>
            <a:r>
              <a:rPr lang="en-US" dirty="0" err="1"/>
              <a:t>parecer</a:t>
            </a:r>
            <a:r>
              <a:rPr lang="en-US" dirty="0"/>
              <a:t> simple,…</a:t>
            </a:r>
          </a:p>
          <a:p>
            <a:r>
              <a:rPr lang="en-US" dirty="0"/>
              <a:t>Saludo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Decirlas</a:t>
            </a:r>
            <a:r>
              <a:rPr lang="en-US" dirty="0"/>
              <a:t> </a:t>
            </a:r>
            <a:r>
              <a:rPr lang="en-US" dirty="0" err="1"/>
              <a:t>nomas</a:t>
            </a:r>
            <a:r>
              <a:rPr lang="en-US" dirty="0"/>
              <a:t> no </a:t>
            </a:r>
            <a:r>
              <a:rPr lang="en-US" dirty="0" err="1"/>
              <a:t>wei</a:t>
            </a:r>
            <a:r>
              <a:rPr lang="en-US" dirty="0"/>
              <a:t> </a:t>
            </a:r>
            <a:r>
              <a:rPr lang="en-US" dirty="0" err="1"/>
              <a:t>xD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mercado de </a:t>
            </a:r>
            <a:r>
              <a:rPr lang="en-US" dirty="0" err="1"/>
              <a:t>vehiculos</a:t>
            </a:r>
            <a:r>
              <a:rPr lang="en-US" dirty="0"/>
              <a:t> </a:t>
            </a:r>
            <a:r>
              <a:rPr lang="en-US" dirty="0" err="1"/>
              <a:t>presenta</a:t>
            </a:r>
            <a:r>
              <a:rPr lang="en-US" dirty="0"/>
              <a:t> un </a:t>
            </a:r>
            <a:r>
              <a:rPr lang="en-US" dirty="0" err="1"/>
              <a:t>problema</a:t>
            </a:r>
            <a:r>
              <a:rPr lang="en-US" dirty="0"/>
              <a:t>…</a:t>
            </a:r>
          </a:p>
          <a:p>
            <a:r>
              <a:rPr lang="en-US" dirty="0" err="1"/>
              <a:t>Muchas</a:t>
            </a:r>
            <a:r>
              <a:rPr lang="en-US" dirty="0"/>
              <a:t> </a:t>
            </a:r>
            <a:r>
              <a:rPr lang="en-US" dirty="0" err="1"/>
              <a:t>tasaciones</a:t>
            </a:r>
            <a:r>
              <a:rPr lang="en-US" dirty="0"/>
              <a:t> </a:t>
            </a:r>
            <a:r>
              <a:rPr lang="en-US" dirty="0" err="1"/>
              <a:t>dependen</a:t>
            </a:r>
            <a:r>
              <a:rPr lang="en-US" dirty="0"/>
              <a:t> de la </a:t>
            </a:r>
            <a:r>
              <a:rPr lang="en-US" dirty="0" err="1"/>
              <a:t>subjetividad</a:t>
            </a:r>
            <a:r>
              <a:rPr lang="en-US" dirty="0"/>
              <a:t>….</a:t>
            </a:r>
          </a:p>
          <a:p>
            <a:r>
              <a:rPr lang="en-US" dirty="0"/>
              <a:t>El </a:t>
            </a:r>
            <a:r>
              <a:rPr lang="en-US" dirty="0" err="1"/>
              <a:t>precio</a:t>
            </a:r>
            <a:r>
              <a:rPr lang="en-US" dirty="0"/>
              <a:t> no </a:t>
            </a:r>
            <a:r>
              <a:rPr lang="en-US" dirty="0" err="1"/>
              <a:t>depende</a:t>
            </a:r>
            <a:r>
              <a:rPr lang="en-US" dirty="0"/>
              <a:t> de un solo factor…</a:t>
            </a:r>
          </a:p>
          <a:p>
            <a:r>
              <a:rPr lang="en-US" dirty="0"/>
              <a:t>Leer </a:t>
            </a:r>
            <a:r>
              <a:rPr lang="en-US" dirty="0" err="1"/>
              <a:t>pregunta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Leer y </a:t>
            </a:r>
            <a:r>
              <a:rPr lang="en-US" dirty="0" err="1"/>
              <a:t>explicar</a:t>
            </a:r>
            <a:br>
              <a:rPr lang="en-US" dirty="0"/>
            </a:br>
            <a:r>
              <a:rPr lang="en-US" dirty="0"/>
              <a:t>G: Eso</a:t>
            </a:r>
          </a:p>
          <a:p>
            <a:endParaRPr lang="en-US" dirty="0"/>
          </a:p>
          <a:p>
            <a:pPr marL="228600" indent="-228600">
              <a:buAutoNum type="arabicPeriod"/>
            </a:pPr>
            <a:r>
              <a:rPr lang="en-US" dirty="0"/>
              <a:t>Dataset y </a:t>
            </a:r>
            <a:r>
              <a:rPr lang="en-US" dirty="0" err="1"/>
              <a:t>preprocesamiento</a:t>
            </a:r>
            <a:endParaRPr lang="en-US" dirty="0"/>
          </a:p>
          <a:p>
            <a:pPr marL="228600" indent="-228600">
              <a:buAutoNum type="arabicPeriod"/>
            </a:pPr>
            <a:r>
              <a:rPr lang="en-US" dirty="0" err="1"/>
              <a:t>Tecnicas</a:t>
            </a:r>
            <a:endParaRPr lang="en-US" dirty="0"/>
          </a:p>
          <a:p>
            <a:pPr marL="228600" indent="-228600">
              <a:buAutoNum type="arabicPeriod"/>
            </a:pPr>
            <a:r>
              <a:rPr lang="en-US" dirty="0"/>
              <a:t>Modelo </a:t>
            </a:r>
            <a:r>
              <a:rPr lang="en-US" dirty="0" err="1"/>
              <a:t>ganador</a:t>
            </a:r>
            <a:endParaRPr lang="en-US" dirty="0"/>
          </a:p>
          <a:p>
            <a:pPr marL="228600" indent="-228600">
              <a:buAutoNum type="arabicPeriod"/>
            </a:pPr>
            <a:r>
              <a:rPr lang="en-US" dirty="0"/>
              <a:t>App web de </a:t>
            </a:r>
            <a:r>
              <a:rPr lang="en-US" dirty="0" err="1"/>
              <a:t>despliegue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Crisp… 6 </a:t>
            </a:r>
            <a:r>
              <a:rPr lang="en-US" dirty="0" err="1"/>
              <a:t>etapas</a:t>
            </a:r>
            <a:r>
              <a:rPr lang="en-US" dirty="0"/>
              <a:t> </a:t>
            </a:r>
            <a:r>
              <a:rPr lang="en-US" dirty="0" err="1"/>
              <a:t>iterativas</a:t>
            </a:r>
            <a:r>
              <a:rPr lang="en-US" dirty="0"/>
              <a:t>, </a:t>
            </a:r>
            <a:r>
              <a:rPr lang="en-US" dirty="0" err="1"/>
              <a:t>estructurada</a:t>
            </a:r>
            <a:r>
              <a:rPr lang="en-US" dirty="0"/>
              <a:t>…</a:t>
            </a:r>
          </a:p>
          <a:p>
            <a:pPr marL="228600" indent="-228600">
              <a:buAutoNum type="arabicPeriod"/>
            </a:pPr>
            <a:r>
              <a:rPr lang="en-US" dirty="0" err="1"/>
              <a:t>Definir</a:t>
            </a:r>
            <a:r>
              <a:rPr lang="en-US" dirty="0"/>
              <a:t> </a:t>
            </a:r>
            <a:r>
              <a:rPr lang="en-US" dirty="0" err="1"/>
              <a:t>problemas</a:t>
            </a:r>
            <a:r>
              <a:rPr lang="en-US" dirty="0"/>
              <a:t> y </a:t>
            </a:r>
            <a:r>
              <a:rPr lang="en-US" dirty="0" err="1"/>
              <a:t>objeticos</a:t>
            </a:r>
            <a:endParaRPr lang="en-US" dirty="0"/>
          </a:p>
          <a:p>
            <a:pPr marL="228600" indent="-228600">
              <a:buAutoNum type="arabicPeriod"/>
            </a:pPr>
            <a:r>
              <a:rPr lang="en-US" dirty="0"/>
              <a:t>Dataset y </a:t>
            </a:r>
            <a:r>
              <a:rPr lang="en-US" dirty="0" err="1"/>
              <a:t>eda</a:t>
            </a:r>
            <a:r>
              <a:rPr lang="en-US" dirty="0"/>
              <a:t>, 26 columnas</a:t>
            </a:r>
          </a:p>
          <a:p>
            <a:pPr marL="228600" indent="-228600">
              <a:buAutoNum type="arabicPeriod"/>
            </a:pPr>
            <a:r>
              <a:rPr lang="en-US" dirty="0" err="1"/>
              <a:t>Preprocesamiento</a:t>
            </a:r>
            <a:r>
              <a:rPr lang="en-US" dirty="0"/>
              <a:t>, de 426 a 349</a:t>
            </a:r>
          </a:p>
          <a:p>
            <a:pPr marL="228600" indent="-228600">
              <a:buAutoNum type="arabicPeriod"/>
            </a:pPr>
            <a:r>
              <a:rPr lang="en-US" dirty="0" err="1"/>
              <a:t>Entrenamiento</a:t>
            </a:r>
            <a:r>
              <a:rPr lang="en-US" dirty="0"/>
              <a:t> , lineal, ridge, lasso, boost gradient, random forest</a:t>
            </a:r>
          </a:p>
          <a:p>
            <a:pPr marL="228600" indent="-228600">
              <a:buAutoNum type="arabicPeriod"/>
            </a:pPr>
            <a:r>
              <a:rPr lang="en-US" dirty="0" err="1"/>
              <a:t>Evaluacion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base a </a:t>
            </a:r>
            <a:r>
              <a:rPr lang="en-US" dirty="0" err="1"/>
              <a:t>metricas</a:t>
            </a:r>
            <a:r>
              <a:rPr lang="en-US" dirty="0"/>
              <a:t>, </a:t>
            </a:r>
            <a:r>
              <a:rPr lang="en-US" dirty="0" err="1"/>
              <a:t>tomando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unica </a:t>
            </a:r>
            <a:r>
              <a:rPr lang="en-US" dirty="0" err="1"/>
              <a:t>referencia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desempeño</a:t>
            </a:r>
            <a:r>
              <a:rPr lang="en-US" dirty="0"/>
              <a:t> de </a:t>
            </a:r>
            <a:r>
              <a:rPr lang="en-US" dirty="0" err="1"/>
              <a:t>resultados</a:t>
            </a:r>
            <a:r>
              <a:rPr lang="en-US" dirty="0"/>
              <a:t>, no peso o </a:t>
            </a:r>
            <a:r>
              <a:rPr lang="en-US" dirty="0" err="1"/>
              <a:t>tiempo</a:t>
            </a:r>
            <a:endParaRPr lang="en-US" dirty="0"/>
          </a:p>
          <a:p>
            <a:pPr marL="228600" indent="-228600">
              <a:buAutoNum type="arabicPeriod"/>
            </a:pPr>
            <a:r>
              <a:rPr lang="en-US" dirty="0" err="1"/>
              <a:t>Depliegue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web, </a:t>
            </a:r>
            <a:r>
              <a:rPr lang="en-US" dirty="0" err="1"/>
              <a:t>interactivo</a:t>
            </a:r>
            <a:r>
              <a:rPr lang="en-US" dirty="0"/>
              <a:t> y real</a:t>
            </a:r>
          </a:p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949F9-BFFC-C625-B44E-7F94C0CBE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CB1735-0FA3-3F8F-1B8C-2A0476C5B3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348377-0411-F6F0-898B-27D652B446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Leer y </a:t>
            </a:r>
            <a:r>
              <a:rPr lang="en-US" dirty="0" err="1"/>
              <a:t>decir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hace</a:t>
            </a:r>
            <a:r>
              <a:rPr lang="en-US" dirty="0"/>
              <a:t>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una</a:t>
            </a:r>
            <a:endParaRPr lang="en-US" dirty="0"/>
          </a:p>
          <a:p>
            <a:endParaRPr lang="en-US" dirty="0"/>
          </a:p>
          <a:p>
            <a:r>
              <a:rPr lang="en-US" dirty="0"/>
              <a:t>Python para </a:t>
            </a:r>
            <a:r>
              <a:rPr lang="en-US" dirty="0" err="1"/>
              <a:t>nootbooks</a:t>
            </a:r>
            <a:endParaRPr lang="en-US" dirty="0"/>
          </a:p>
          <a:p>
            <a:r>
              <a:rPr lang="en-US" dirty="0"/>
              <a:t>Pandas para </a:t>
            </a:r>
            <a:r>
              <a:rPr lang="en-US" dirty="0" err="1"/>
              <a:t>graficos</a:t>
            </a:r>
            <a:endParaRPr lang="en-US" dirty="0"/>
          </a:p>
          <a:p>
            <a:r>
              <a:rPr lang="en-US" dirty="0"/>
              <a:t>Scikit learn para </a:t>
            </a:r>
            <a:r>
              <a:rPr lang="en-US" dirty="0" err="1"/>
              <a:t>entrenamientos</a:t>
            </a:r>
            <a:endParaRPr lang="en-US" dirty="0"/>
          </a:p>
          <a:p>
            <a:r>
              <a:rPr lang="en-US" dirty="0"/>
              <a:t>Fast </a:t>
            </a:r>
            <a:r>
              <a:rPr lang="en-US" dirty="0" err="1"/>
              <a:t>api</a:t>
            </a:r>
            <a:r>
              <a:rPr lang="en-US" dirty="0"/>
              <a:t> para levanter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servidor</a:t>
            </a:r>
            <a:r>
              <a:rPr lang="en-US" dirty="0"/>
              <a:t> del </a:t>
            </a:r>
            <a:r>
              <a:rPr lang="en-US" dirty="0" err="1"/>
              <a:t>modelo</a:t>
            </a:r>
            <a:endParaRPr lang="en-US" dirty="0"/>
          </a:p>
          <a:p>
            <a:r>
              <a:rPr lang="en-US" dirty="0" err="1"/>
              <a:t>Reactgit</a:t>
            </a:r>
            <a:r>
              <a:rPr lang="en-US" dirty="0"/>
              <a:t> y git para </a:t>
            </a:r>
            <a:r>
              <a:rPr lang="en-US" dirty="0" err="1"/>
              <a:t>desarrollar</a:t>
            </a:r>
            <a:r>
              <a:rPr lang="en-US" dirty="0"/>
              <a:t> la </a:t>
            </a:r>
            <a:r>
              <a:rPr lang="en-US" dirty="0" err="1"/>
              <a:t>interfaz</a:t>
            </a:r>
            <a:r>
              <a:rPr lang="en-US" dirty="0"/>
              <a:t> y </a:t>
            </a:r>
            <a:r>
              <a:rPr lang="en-US" dirty="0" err="1"/>
              <a:t>llevasr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control de versions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BA4ACA-8348-8405-1373-BD7C428DE9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9519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</a:t>
            </a:r>
            <a:r>
              <a:rPr lang="en-US" dirty="0" err="1"/>
              <a:t>modelos</a:t>
            </a:r>
            <a:endParaRPr lang="en-US" dirty="0"/>
          </a:p>
          <a:p>
            <a:r>
              <a:rPr lang="en-US" dirty="0"/>
              <a:t>R2: </a:t>
            </a:r>
            <a:r>
              <a:rPr lang="en-US" dirty="0" err="1"/>
              <a:t>coeficiente</a:t>
            </a:r>
            <a:r>
              <a:rPr lang="en-US" dirty="0"/>
              <a:t> de </a:t>
            </a:r>
            <a:r>
              <a:rPr lang="en-US" dirty="0" err="1"/>
              <a:t>determinacion</a:t>
            </a:r>
            <a:r>
              <a:rPr lang="en-US" dirty="0"/>
              <a:t>, precision, </a:t>
            </a:r>
            <a:r>
              <a:rPr lang="en-US" dirty="0" err="1"/>
              <a:t>variabilidadde</a:t>
            </a:r>
            <a:r>
              <a:rPr lang="en-US" dirty="0"/>
              <a:t> la variable </a:t>
            </a:r>
            <a:r>
              <a:rPr lang="en-US" dirty="0" err="1"/>
              <a:t>objetivo</a:t>
            </a:r>
            <a:endParaRPr lang="en-US" dirty="0"/>
          </a:p>
          <a:p>
            <a:r>
              <a:rPr lang="en-US" dirty="0"/>
              <a:t>RMSE: error absolute medio, penalize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errores</a:t>
            </a:r>
            <a:r>
              <a:rPr lang="en-US" dirty="0"/>
              <a:t> </a:t>
            </a:r>
            <a:r>
              <a:rPr lang="en-US" dirty="0" err="1"/>
              <a:t>grandes</a:t>
            </a:r>
            <a:endParaRPr lang="en-US" dirty="0"/>
          </a:p>
          <a:p>
            <a:r>
              <a:rPr lang="en-US" dirty="0"/>
              <a:t>MAE: </a:t>
            </a:r>
            <a:r>
              <a:rPr lang="en-US" dirty="0" err="1"/>
              <a:t>raiz</a:t>
            </a:r>
            <a:r>
              <a:rPr lang="en-US" dirty="0"/>
              <a:t> error </a:t>
            </a:r>
            <a:r>
              <a:rPr lang="en-US" dirty="0" err="1"/>
              <a:t>cuadratico</a:t>
            </a:r>
            <a:r>
              <a:rPr lang="en-US" dirty="0"/>
              <a:t> medio, </a:t>
            </a:r>
            <a:r>
              <a:rPr lang="en-US" dirty="0" err="1"/>
              <a:t>cuantas</a:t>
            </a:r>
            <a:r>
              <a:rPr lang="en-US" dirty="0"/>
              <a:t> </a:t>
            </a:r>
            <a:r>
              <a:rPr lang="en-US" dirty="0" err="1"/>
              <a:t>unidades</a:t>
            </a:r>
            <a:r>
              <a:rPr lang="en-US" dirty="0"/>
              <a:t> de peso me </a:t>
            </a:r>
            <a:r>
              <a:rPr lang="en-US" dirty="0" err="1"/>
              <a:t>desvio</a:t>
            </a:r>
            <a:r>
              <a:rPr lang="en-US" dirty="0"/>
              <a:t> del valor real</a:t>
            </a:r>
          </a:p>
          <a:p>
            <a:endParaRPr lang="en-US" dirty="0"/>
          </a:p>
          <a:p>
            <a:r>
              <a:rPr lang="en-US" dirty="0"/>
              <a:t>No se </a:t>
            </a:r>
            <a:r>
              <a:rPr lang="en-US" dirty="0" err="1"/>
              <a:t>uso</a:t>
            </a:r>
            <a:r>
              <a:rPr lang="en-US" dirty="0"/>
              <a:t> </a:t>
            </a:r>
            <a:r>
              <a:rPr lang="en-US" dirty="0" err="1"/>
              <a:t>tiempo</a:t>
            </a:r>
            <a:r>
              <a:rPr lang="en-US" dirty="0"/>
              <a:t> </a:t>
            </a:r>
            <a:r>
              <a:rPr lang="en-US" dirty="0" err="1"/>
              <a:t>ni</a:t>
            </a:r>
            <a:r>
              <a:rPr lang="en-US" dirty="0"/>
              <a:t> peso</a:t>
            </a:r>
          </a:p>
          <a:p>
            <a:r>
              <a:rPr lang="en-US" dirty="0"/>
              <a:t>RF: 60 </a:t>
            </a:r>
            <a:r>
              <a:rPr lang="en-US" dirty="0" err="1"/>
              <a:t>segundos</a:t>
            </a:r>
            <a:r>
              <a:rPr lang="en-US" dirty="0"/>
              <a:t>,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demas</a:t>
            </a:r>
            <a:r>
              <a:rPr lang="en-US" dirty="0"/>
              <a:t> </a:t>
            </a:r>
            <a:r>
              <a:rPr lang="en-US" dirty="0" err="1"/>
              <a:t>unos</a:t>
            </a:r>
            <a:r>
              <a:rPr lang="en-US" dirty="0"/>
              <a:t>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BAFCE-B03E-D47C-BE40-95E05EC22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9F2F8C-012D-5F69-ED08-8D506C1C3F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46FB42-A7A9-831D-3DAE-0E3A961524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Modelo </a:t>
            </a:r>
            <a:r>
              <a:rPr lang="en-US" dirty="0" err="1"/>
              <a:t>año</a:t>
            </a:r>
            <a:r>
              <a:rPr lang="en-US" dirty="0"/>
              <a:t> y </a:t>
            </a:r>
            <a:r>
              <a:rPr lang="en-US" dirty="0" err="1"/>
              <a:t>odometro</a:t>
            </a:r>
            <a:r>
              <a:rPr lang="en-US" dirty="0"/>
              <a:t>, </a:t>
            </a:r>
            <a:r>
              <a:rPr lang="en-US" dirty="0" err="1"/>
              <a:t>modelo</a:t>
            </a:r>
            <a:r>
              <a:rPr lang="en-US" dirty="0"/>
              <a:t> </a:t>
            </a:r>
            <a:r>
              <a:rPr lang="en-US" dirty="0" err="1"/>
              <a:t>antiguedad</a:t>
            </a:r>
            <a:r>
              <a:rPr lang="en-US" dirty="0"/>
              <a:t> y </a:t>
            </a:r>
            <a:r>
              <a:rPr lang="en-US" dirty="0" err="1"/>
              <a:t>uso</a:t>
            </a:r>
            <a:endParaRPr lang="en-US" dirty="0"/>
          </a:p>
          <a:p>
            <a:r>
              <a:rPr lang="en-US" dirty="0"/>
              <a:t>60 21 5</a:t>
            </a:r>
          </a:p>
          <a:p>
            <a:endParaRPr lang="en-US" dirty="0"/>
          </a:p>
          <a:p>
            <a:r>
              <a:rPr lang="en-US" dirty="0"/>
              <a:t>Modelo es la mas </a:t>
            </a:r>
            <a:r>
              <a:rPr lang="en-US" dirty="0" err="1"/>
              <a:t>importante</a:t>
            </a:r>
            <a:r>
              <a:rPr lang="en-US" dirty="0"/>
              <a:t>… autos </a:t>
            </a:r>
            <a:r>
              <a:rPr lang="en-US" dirty="0" err="1"/>
              <a:t>varatos</a:t>
            </a:r>
            <a:r>
              <a:rPr lang="en-US" dirty="0"/>
              <a:t> y </a:t>
            </a:r>
            <a:r>
              <a:rPr lang="en-US" dirty="0" err="1"/>
              <a:t>antiguos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Crei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la </a:t>
            </a:r>
            <a:r>
              <a:rPr lang="en-US" dirty="0" err="1"/>
              <a:t>marca</a:t>
            </a:r>
            <a:r>
              <a:rPr lang="en-US" dirty="0"/>
              <a:t> </a:t>
            </a:r>
            <a:r>
              <a:rPr lang="en-US" dirty="0" err="1"/>
              <a:t>influiria</a:t>
            </a:r>
            <a:r>
              <a:rPr lang="en-US" dirty="0"/>
              <a:t> mas </a:t>
            </a:r>
            <a:r>
              <a:rPr lang="en-US" dirty="0" err="1"/>
              <a:t>pero</a:t>
            </a:r>
            <a:r>
              <a:rPr lang="en-US" dirty="0"/>
              <a:t> hay </a:t>
            </a:r>
            <a:r>
              <a:rPr lang="en-US" dirty="0" err="1"/>
              <a:t>marcas</a:t>
            </a:r>
            <a:r>
              <a:rPr lang="en-US" dirty="0"/>
              <a:t> con autos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todos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segmentos</a:t>
            </a:r>
            <a:r>
              <a:rPr lang="en-US" dirty="0"/>
              <a:t>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B50DFF-CFBF-DFFD-4869-7007B7CB3C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281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Consiste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un Sistema </a:t>
            </a:r>
            <a:r>
              <a:rPr lang="en-US" dirty="0" err="1"/>
              <a:t>capaz</a:t>
            </a:r>
            <a:r>
              <a:rPr lang="en-US" dirty="0"/>
              <a:t> de </a:t>
            </a:r>
            <a:r>
              <a:rPr lang="en-US" dirty="0" err="1"/>
              <a:t>estimar</a:t>
            </a:r>
            <a:r>
              <a:rPr lang="en-US" dirty="0"/>
              <a:t>…</a:t>
            </a:r>
          </a:p>
          <a:p>
            <a:endParaRPr lang="en-US" dirty="0"/>
          </a:p>
          <a:p>
            <a:r>
              <a:rPr lang="en-US" dirty="0"/>
              <a:t>El </a:t>
            </a:r>
            <a:r>
              <a:rPr lang="en-US" dirty="0" err="1"/>
              <a:t>usuario</a:t>
            </a:r>
            <a:r>
              <a:rPr lang="en-US" dirty="0"/>
              <a:t> </a:t>
            </a:r>
            <a:r>
              <a:rPr lang="en-US" dirty="0" err="1"/>
              <a:t>ingresa</a:t>
            </a:r>
            <a:r>
              <a:rPr lang="en-US" dirty="0"/>
              <a:t> las </a:t>
            </a:r>
            <a:r>
              <a:rPr lang="en-US" dirty="0" err="1"/>
              <a:t>caracteristiaas</a:t>
            </a:r>
            <a:r>
              <a:rPr lang="en-US" dirty="0"/>
              <a:t> principals del auto, Tambien </a:t>
            </a:r>
            <a:r>
              <a:rPr lang="en-US" dirty="0" err="1"/>
              <a:t>puede</a:t>
            </a:r>
            <a:r>
              <a:rPr lang="en-US" dirty="0"/>
              <a:t> </a:t>
            </a:r>
            <a:r>
              <a:rPr lang="en-US" dirty="0" err="1"/>
              <a:t>seleccionar</a:t>
            </a:r>
            <a:r>
              <a:rPr lang="en-US" dirty="0"/>
              <a:t> </a:t>
            </a:r>
            <a:r>
              <a:rPr lang="en-US" dirty="0" err="1"/>
              <a:t>modelos</a:t>
            </a:r>
            <a:r>
              <a:rPr lang="en-US" dirty="0"/>
              <a:t> o </a:t>
            </a:r>
            <a:r>
              <a:rPr lang="en-US" dirty="0" err="1"/>
              <a:t>marcas</a:t>
            </a:r>
            <a:r>
              <a:rPr lang="en-US" dirty="0"/>
              <a:t> no </a:t>
            </a:r>
            <a:r>
              <a:rPr lang="en-US" dirty="0" err="1"/>
              <a:t>registradas</a:t>
            </a:r>
            <a:r>
              <a:rPr lang="en-US" dirty="0"/>
              <a:t> y se le </a:t>
            </a:r>
            <a:r>
              <a:rPr lang="en-US" dirty="0" err="1"/>
              <a:t>dira</a:t>
            </a:r>
            <a:r>
              <a:rPr lang="en-US" dirty="0"/>
              <a:t> </a:t>
            </a:r>
            <a:r>
              <a:rPr lang="en-US" dirty="0" err="1"/>
              <a:t>quie</a:t>
            </a:r>
            <a:r>
              <a:rPr lang="en-US" dirty="0"/>
              <a:t> </a:t>
            </a:r>
            <a:r>
              <a:rPr lang="en-US" dirty="0" err="1"/>
              <a:t>eso</a:t>
            </a:r>
            <a:r>
              <a:rPr lang="en-US" dirty="0"/>
              <a:t> baja la precision del </a:t>
            </a:r>
            <a:r>
              <a:rPr lang="en-US" dirty="0" err="1"/>
              <a:t>resultado</a:t>
            </a:r>
            <a:r>
              <a:rPr lang="en-US" dirty="0"/>
              <a:t>, </a:t>
            </a:r>
            <a:r>
              <a:rPr lang="en-US" dirty="0" err="1"/>
              <a:t>ya</a:t>
            </a:r>
            <a:r>
              <a:rPr lang="en-US" dirty="0"/>
              <a:t> </a:t>
            </a:r>
            <a:r>
              <a:rPr lang="en-US" dirty="0" err="1"/>
              <a:t>quew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vimos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modelo</a:t>
            </a:r>
            <a:r>
              <a:rPr lang="en-US" dirty="0"/>
              <a:t> es lo mas </a:t>
            </a:r>
            <a:r>
              <a:rPr lang="en-US" dirty="0" err="1"/>
              <a:t>importante</a:t>
            </a:r>
            <a:endParaRPr lang="en-US" dirty="0"/>
          </a:p>
          <a:p>
            <a:endParaRPr lang="en-US" dirty="0"/>
          </a:p>
          <a:p>
            <a:r>
              <a:rPr lang="en-US" dirty="0"/>
              <a:t>Los </a:t>
            </a:r>
            <a:r>
              <a:rPr lang="en-US" dirty="0" err="1"/>
              <a:t>datos</a:t>
            </a:r>
            <a:r>
              <a:rPr lang="en-US" dirty="0"/>
              <a:t> son </a:t>
            </a:r>
            <a:r>
              <a:rPr lang="en-US" dirty="0" err="1"/>
              <a:t>enviados</a:t>
            </a:r>
            <a:r>
              <a:rPr lang="en-US" dirty="0"/>
              <a:t> al back </a:t>
            </a:r>
            <a:r>
              <a:rPr lang="en-US" dirty="0" err="1"/>
              <a:t>en</a:t>
            </a:r>
            <a:r>
              <a:rPr lang="en-US" dirty="0"/>
              <a:t> y se (</a:t>
            </a:r>
            <a:r>
              <a:rPr lang="en-US" dirty="0" err="1"/>
              <a:t>Escalamiento</a:t>
            </a:r>
            <a:r>
              <a:rPr lang="en-US" dirty="0"/>
              <a:t>, </a:t>
            </a:r>
            <a:r>
              <a:rPr lang="en-US" dirty="0" err="1"/>
              <a:t>Normalizacion</a:t>
            </a:r>
            <a:r>
              <a:rPr lang="en-US" dirty="0"/>
              <a:t>, </a:t>
            </a:r>
            <a:r>
              <a:rPr lang="en-US" dirty="0" err="1"/>
              <a:t>codificacion</a:t>
            </a:r>
            <a:r>
              <a:rPr lang="en-US" dirty="0"/>
              <a:t>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El </a:t>
            </a:r>
            <a:r>
              <a:rPr lang="en-US" dirty="0" err="1"/>
              <a:t>modelo</a:t>
            </a:r>
            <a:r>
              <a:rPr lang="en-US" dirty="0"/>
              <a:t> solo se carga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vez</a:t>
            </a:r>
            <a:endParaRPr lang="en-US" dirty="0"/>
          </a:p>
          <a:p>
            <a:endParaRPr lang="en-US" dirty="0"/>
          </a:p>
          <a:p>
            <a:r>
              <a:rPr lang="en-US" dirty="0"/>
              <a:t>FE react ; BE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fastapi</a:t>
            </a:r>
            <a:r>
              <a:rPr lang="en-US" dirty="0"/>
              <a:t> ; M random fortes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 </a:t>
            </a:r>
            <a:r>
              <a:rPr lang="en-US" dirty="0" err="1"/>
              <a:t>cumpido</a:t>
            </a:r>
            <a:r>
              <a:rPr lang="en-US" dirty="0"/>
              <a:t>, se </a:t>
            </a:r>
            <a:r>
              <a:rPr lang="en-US" dirty="0" err="1"/>
              <a:t>desarollo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Sistema y se </a:t>
            </a:r>
            <a:r>
              <a:rPr lang="en-US" dirty="0" err="1"/>
              <a:t>ciumplieron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OE</a:t>
            </a:r>
          </a:p>
          <a:p>
            <a:endParaRPr lang="en-US" dirty="0"/>
          </a:p>
          <a:p>
            <a:r>
              <a:rPr lang="en-US" dirty="0"/>
              <a:t>No hay </a:t>
            </a:r>
            <a:r>
              <a:rPr lang="en-US" dirty="0" err="1"/>
              <a:t>relacioles</a:t>
            </a:r>
            <a:r>
              <a:rPr lang="en-US" dirty="0"/>
              <a:t> </a:t>
            </a:r>
            <a:r>
              <a:rPr lang="en-US" dirty="0" err="1"/>
              <a:t>lineales</a:t>
            </a:r>
            <a:r>
              <a:rPr lang="en-US" dirty="0"/>
              <a:t> simples, </a:t>
            </a:r>
            <a:r>
              <a:rPr lang="en-US" dirty="0" err="1"/>
              <a:t>ya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se </a:t>
            </a:r>
            <a:r>
              <a:rPr lang="en-US" dirty="0" err="1"/>
              <a:t>uso</a:t>
            </a:r>
            <a:r>
              <a:rPr lang="en-US" dirty="0"/>
              <a:t> random forest, </a:t>
            </a:r>
            <a:r>
              <a:rPr lang="en-US" dirty="0" err="1"/>
              <a:t>osea</a:t>
            </a:r>
            <a:r>
              <a:rPr lang="en-US" dirty="0"/>
              <a:t> hay </a:t>
            </a:r>
            <a:r>
              <a:rPr lang="en-US" dirty="0" err="1"/>
              <a:t>patrones</a:t>
            </a:r>
            <a:r>
              <a:rPr lang="en-US" dirty="0"/>
              <a:t> </a:t>
            </a:r>
            <a:r>
              <a:rPr lang="en-US" dirty="0" err="1"/>
              <a:t>complejos</a:t>
            </a:r>
            <a:endParaRPr lang="en-US" dirty="0"/>
          </a:p>
          <a:p>
            <a:endParaRPr lang="en-US" dirty="0"/>
          </a:p>
          <a:p>
            <a:r>
              <a:rPr lang="en-US" dirty="0"/>
              <a:t>Y </a:t>
            </a:r>
            <a:r>
              <a:rPr lang="en-US" dirty="0" err="1"/>
              <a:t>aprendi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no solo de un </a:t>
            </a:r>
            <a:r>
              <a:rPr lang="en-US" dirty="0" err="1"/>
              <a:t>buen</a:t>
            </a:r>
            <a:r>
              <a:rPr lang="en-US" dirty="0"/>
              <a:t> </a:t>
            </a:r>
            <a:r>
              <a:rPr lang="en-US" dirty="0" err="1"/>
              <a:t>algoritmo</a:t>
            </a:r>
            <a:r>
              <a:rPr lang="en-US" dirty="0"/>
              <a:t> </a:t>
            </a:r>
            <a:r>
              <a:rPr lang="en-US" dirty="0" err="1"/>
              <a:t>vive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aprendizaje</a:t>
            </a:r>
            <a:r>
              <a:rPr lang="en-US" dirty="0"/>
              <a:t>, </a:t>
            </a:r>
            <a:r>
              <a:rPr lang="en-US" dirty="0" err="1"/>
              <a:t>sino</a:t>
            </a:r>
            <a:r>
              <a:rPr lang="en-US" dirty="0"/>
              <a:t> de </a:t>
            </a:r>
            <a:r>
              <a:rPr lang="en-US" dirty="0" err="1"/>
              <a:t>los</a:t>
            </a:r>
            <a:r>
              <a:rPr lang="en-US" dirty="0"/>
              <a:t> buenos </a:t>
            </a:r>
            <a:r>
              <a:rPr lang="en-US" dirty="0" err="1"/>
              <a:t>datos</a:t>
            </a:r>
            <a:r>
              <a:rPr lang="en-US" dirty="0"/>
              <a:t> y la Calidad de </a:t>
            </a:r>
            <a:r>
              <a:rPr lang="en-US" dirty="0" err="1"/>
              <a:t>preprocesamiento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se les </a:t>
            </a:r>
            <a:r>
              <a:rPr lang="en-US" dirty="0" err="1"/>
              <a:t>hace</a:t>
            </a:r>
            <a:r>
              <a:rPr lang="en-US" dirty="0"/>
              <a:t> </a:t>
            </a:r>
            <a:r>
              <a:rPr lang="en-US" dirty="0" err="1"/>
              <a:t>eso</a:t>
            </a:r>
            <a:r>
              <a:rPr lang="en-US" dirty="0"/>
              <a:t> es crucial, </a:t>
            </a:r>
          </a:p>
          <a:p>
            <a:endParaRPr lang="en-US" dirty="0"/>
          </a:p>
          <a:p>
            <a:r>
              <a:rPr lang="en-US" dirty="0"/>
              <a:t>Mercado chileno</a:t>
            </a:r>
          </a:p>
          <a:p>
            <a:r>
              <a:rPr lang="en-US" dirty="0" err="1"/>
              <a:t>Lenguaje</a:t>
            </a:r>
            <a:r>
              <a:rPr lang="en-US" dirty="0"/>
              <a:t> natural</a:t>
            </a:r>
          </a:p>
          <a:p>
            <a:r>
              <a:rPr lang="en-US" dirty="0" err="1"/>
              <a:t>Modelos</a:t>
            </a:r>
            <a:r>
              <a:rPr lang="en-US" dirty="0"/>
              <a:t> mas </a:t>
            </a:r>
            <a:r>
              <a:rPr lang="en-US" dirty="0" err="1"/>
              <a:t>livianos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permitan</a:t>
            </a:r>
            <a:r>
              <a:rPr lang="en-US" dirty="0"/>
              <a:t> un </a:t>
            </a:r>
            <a:r>
              <a:rPr lang="en-US" dirty="0" err="1"/>
              <a:t>despliegue</a:t>
            </a:r>
            <a:r>
              <a:rPr lang="en-US" dirty="0"/>
              <a:t> mas </a:t>
            </a:r>
            <a:r>
              <a:rPr lang="en-US" dirty="0" err="1"/>
              <a:t>sencillo</a:t>
            </a:r>
            <a:r>
              <a:rPr lang="en-US" dirty="0"/>
              <a:t> y </a:t>
            </a:r>
            <a:r>
              <a:rPr lang="en-US" dirty="0" err="1"/>
              <a:t>menos</a:t>
            </a:r>
            <a:r>
              <a:rPr lang="en-US" dirty="0"/>
              <a:t> </a:t>
            </a:r>
            <a:r>
              <a:rPr lang="en-US" dirty="0" err="1"/>
              <a:t>recursos</a:t>
            </a:r>
            <a:endParaRPr lang="en-US" dirty="0"/>
          </a:p>
          <a:p>
            <a:endParaRPr lang="en-US" dirty="0"/>
          </a:p>
          <a:p>
            <a:r>
              <a:rPr lang="en-US" dirty="0"/>
              <a:t>Es possible </a:t>
            </a:r>
            <a:r>
              <a:rPr lang="en-US" dirty="0" err="1"/>
              <a:t>estimar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precio</a:t>
            </a:r>
            <a:r>
              <a:rPr lang="en-US" dirty="0"/>
              <a:t> de </a:t>
            </a:r>
            <a:r>
              <a:rPr lang="en-US" dirty="0" err="1"/>
              <a:t>una</a:t>
            </a:r>
            <a:r>
              <a:rPr lang="en-US" dirty="0"/>
              <a:t> auto hasta </a:t>
            </a:r>
            <a:r>
              <a:rPr lang="en-US" dirty="0" err="1"/>
              <a:t>el</a:t>
            </a:r>
            <a:r>
              <a:rPr lang="en-US" dirty="0"/>
              <a:t> punto de un 95% de precision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2D44C-A1F7-F5B2-8BE4-D64026B5D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F1E001-1709-CA23-8942-2A6073EA8E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884103-0AEC-0C91-DD42-FC9A198E78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Reemplaza los campos entre corchetes [ ] con la información de tu proyecto: título, integrantes, asignatura, docente y fecha. Esta lámina es la primera impresión: mantenla limpia y sin texto de más.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A4C1B1-28B3-B549-6B09-5B17717A27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9132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REFERENCIAS. Mantén un formato consistente (APA). Solo incluye fuentes que realmente citaste o consultaste.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FFF1F-8D6D-EA1E-6F5D-F13C0B572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76BF18-83DE-75C8-E3A1-7D85D2D871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C1FF5B-D3AD-0F0E-926E-54A682B704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</a:t>
            </a:r>
            <a:r>
              <a:rPr lang="en-US" dirty="0" err="1"/>
              <a:t>alguien</a:t>
            </a:r>
            <a:r>
              <a:rPr lang="en-US" dirty="0"/>
              <a:t> me </a:t>
            </a:r>
            <a:r>
              <a:rPr lang="en-US" dirty="0" err="1"/>
              <a:t>regunta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precio</a:t>
            </a:r>
            <a:r>
              <a:rPr lang="en-US" dirty="0"/>
              <a:t>…</a:t>
            </a:r>
          </a:p>
          <a:p>
            <a:r>
              <a:rPr lang="en-US" dirty="0"/>
              <a:t>Si </a:t>
            </a:r>
            <a:r>
              <a:rPr lang="en-US" dirty="0" err="1"/>
              <a:t>preguntamos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precio</a:t>
            </a:r>
            <a:r>
              <a:rPr lang="en-US" dirty="0"/>
              <a:t> a 10…</a:t>
            </a:r>
          </a:p>
          <a:p>
            <a:r>
              <a:rPr lang="en-US" dirty="0"/>
              <a:t>Choque de </a:t>
            </a:r>
            <a:r>
              <a:rPr lang="en-US" dirty="0" err="1"/>
              <a:t>realidad</a:t>
            </a:r>
            <a:r>
              <a:rPr lang="en-US" dirty="0"/>
              <a:t> </a:t>
            </a:r>
            <a:r>
              <a:rPr lang="en-US" dirty="0" err="1"/>
              <a:t>responde</a:t>
            </a:r>
            <a:r>
              <a:rPr lang="en-US" dirty="0"/>
              <a:t> a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pregunta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puede</a:t>
            </a:r>
            <a:r>
              <a:rPr lang="en-US" dirty="0"/>
              <a:t> </a:t>
            </a:r>
            <a:r>
              <a:rPr lang="en-US" dirty="0" err="1"/>
              <a:t>parecer</a:t>
            </a:r>
            <a:r>
              <a:rPr lang="en-US" dirty="0"/>
              <a:t> simple,…</a:t>
            </a:r>
          </a:p>
          <a:p>
            <a:r>
              <a:rPr lang="en-US" dirty="0"/>
              <a:t>Saludo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0FB517-8637-BE08-25B8-3E75058A3F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4002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D968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554480"/>
            <a:ext cx="5120640" cy="5120640"/>
          </a:xfrm>
          <a:prstGeom prst="ellipse">
            <a:avLst/>
          </a:prstGeom>
          <a:ln w="19050">
            <a:solidFill>
              <a:srgbClr val="008000">
                <a:alpha val="17255"/>
              </a:srgbClr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Shape 1"/>
          <p:cNvSpPr/>
          <p:nvPr/>
        </p:nvSpPr>
        <p:spPr>
          <a:xfrm>
            <a:off x="10241280" y="4206240"/>
            <a:ext cx="3291840" cy="3291840"/>
          </a:xfrm>
          <a:prstGeom prst="ellipse">
            <a:avLst/>
          </a:prstGeom>
          <a:ln w="19050">
            <a:solidFill>
              <a:srgbClr val="169C46">
                <a:alpha val="44706"/>
              </a:srgbClr>
            </a:solidFill>
            <a:prstDash val="solid"/>
          </a:ln>
        </p:spPr>
        <p:txBody>
          <a:bodyPr/>
          <a:lstStyle/>
          <a:p>
            <a:endParaRPr lang="es-CL" noProof="0" dirty="0">
              <a:latin typeface="Congenial" panose="02000503040000020004" pitchFamily="2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822960" y="15514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400" b="1" kern="0" spc="300" noProof="0" dirty="0">
                <a:solidFill>
                  <a:srgbClr val="008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DE PROYECTO</a:t>
            </a:r>
            <a:endParaRPr lang="es-CL" sz="1400" noProof="0" dirty="0">
              <a:solidFill>
                <a:srgbClr val="008000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695960" y="1847088"/>
            <a:ext cx="102073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s-CL" sz="8000" b="1" noProof="0" dirty="0">
                <a:solidFill>
                  <a:srgbClr val="131313"/>
                </a:solidFill>
                <a:latin typeface="Congenial" panose="02000503040000020004" pitchFamily="2" charset="0"/>
                <a:ea typeface="Calibri" pitchFamily="34" charset="-122"/>
                <a:cs typeface="Calibri" pitchFamily="34" charset="-120"/>
              </a:rPr>
              <a:t>Choque de Realidad</a:t>
            </a:r>
            <a:endParaRPr lang="es-CL" sz="8000" noProof="0" dirty="0">
              <a:solidFill>
                <a:srgbClr val="131313"/>
              </a:solidFill>
              <a:latin typeface="Congenial" panose="02000503040000020004" pitchFamily="2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77240" y="31120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2000" noProof="0" dirty="0">
                <a:solidFill>
                  <a:srgbClr val="003300"/>
                </a:solidFill>
                <a:latin typeface="Book Antiqua" panose="02040602050305030304" pitchFamily="18" charset="0"/>
                <a:ea typeface="Calibri" pitchFamily="34" charset="-122"/>
                <a:cs typeface="Calibri" pitchFamily="34" charset="-120"/>
              </a:rPr>
              <a:t>Sistema de Estimación de Precios de Vehículos Usados mediante Aprendizaje Automático</a:t>
            </a:r>
            <a:endParaRPr lang="es-CL" sz="2000" noProof="0" dirty="0">
              <a:solidFill>
                <a:srgbClr val="003300"/>
              </a:solidFill>
              <a:latin typeface="Book Antiqua" panose="0204060205030503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777240" y="3926840"/>
            <a:ext cx="7259320" cy="1925320"/>
          </a:xfrm>
          <a:prstGeom prst="roundRect">
            <a:avLst>
              <a:gd name="adj" fmla="val 645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L" noProof="0" dirty="0">
              <a:latin typeface="Congenial" panose="02000503040000020004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142999" y="4097527"/>
            <a:ext cx="3152073" cy="322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b="1" kern="0" spc="150" noProof="0" dirty="0">
                <a:solidFill>
                  <a:srgbClr val="003300"/>
                </a:solidFill>
                <a:latin typeface="Congenial" panose="02000503040000020004" pitchFamily="2" charset="0"/>
                <a:ea typeface="Calibri" pitchFamily="34" charset="-122"/>
                <a:cs typeface="Calibri" pitchFamily="34" charset="-120"/>
              </a:rPr>
              <a:t>AUTOR</a:t>
            </a:r>
            <a:endParaRPr lang="es-CL" sz="1200" noProof="0" dirty="0">
              <a:solidFill>
                <a:srgbClr val="003300"/>
              </a:solidFill>
              <a:latin typeface="Congenial" panose="02000503040000020004" pitchFamily="2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142999" y="4339758"/>
            <a:ext cx="3152073" cy="372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noProof="0" dirty="0">
                <a:solidFill>
                  <a:srgbClr val="131313"/>
                </a:solidFill>
                <a:latin typeface="Book Antiqua" panose="02040602050305030304" pitchFamily="18" charset="0"/>
                <a:ea typeface="Calibri" pitchFamily="34" charset="-122"/>
                <a:cs typeface="Calibri" pitchFamily="34" charset="-120"/>
              </a:rPr>
              <a:t>Celso Farías</a:t>
            </a:r>
            <a:endParaRPr lang="es-CL" noProof="0" dirty="0">
              <a:solidFill>
                <a:srgbClr val="131313"/>
              </a:solidFill>
              <a:latin typeface="Book Antiqua" panose="0204060205030503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434839" y="4097527"/>
            <a:ext cx="3152073" cy="322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b="1" kern="0" spc="150" noProof="0" dirty="0">
                <a:solidFill>
                  <a:srgbClr val="003300"/>
                </a:solidFill>
                <a:latin typeface="Congenial" panose="02000503040000020004" pitchFamily="2" charset="0"/>
                <a:ea typeface="Calibri" pitchFamily="34" charset="-122"/>
                <a:cs typeface="Calibri" pitchFamily="34" charset="-120"/>
              </a:rPr>
              <a:t>DOCENTE</a:t>
            </a:r>
            <a:endParaRPr lang="es-CL" sz="1200" noProof="0" dirty="0">
              <a:solidFill>
                <a:srgbClr val="003300"/>
              </a:solidFill>
              <a:latin typeface="Congenial" panose="02000503040000020004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434839" y="4339758"/>
            <a:ext cx="3152073" cy="372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noProof="0" dirty="0">
                <a:solidFill>
                  <a:srgbClr val="131313"/>
                </a:solidFill>
                <a:latin typeface="Book Antiqua" panose="02040602050305030304" pitchFamily="18" charset="0"/>
                <a:ea typeface="Calibri" pitchFamily="34" charset="-122"/>
                <a:cs typeface="Calibri" pitchFamily="34" charset="-120"/>
              </a:rPr>
              <a:t>Omar Salinas</a:t>
            </a:r>
            <a:endParaRPr lang="es-CL" noProof="0" dirty="0">
              <a:solidFill>
                <a:srgbClr val="131313"/>
              </a:solidFill>
              <a:latin typeface="Book Antiqua" panose="0204060205030503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142999" y="4834128"/>
            <a:ext cx="3152073" cy="322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b="1" kern="0" spc="150" noProof="0" dirty="0">
                <a:solidFill>
                  <a:srgbClr val="003300"/>
                </a:solidFill>
                <a:latin typeface="Congenial" panose="02000503040000020004" pitchFamily="2" charset="0"/>
                <a:ea typeface="Calibri" pitchFamily="34" charset="-122"/>
                <a:cs typeface="Calibri" pitchFamily="34" charset="-120"/>
              </a:rPr>
              <a:t>ASIGNATURA</a:t>
            </a:r>
            <a:endParaRPr lang="es-CL" sz="1200" noProof="0" dirty="0">
              <a:solidFill>
                <a:srgbClr val="003300"/>
              </a:solidFill>
              <a:latin typeface="Congenial" panose="02000503040000020004" pitchFamily="2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142999" y="5076359"/>
            <a:ext cx="3152073" cy="372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L" noProof="0" dirty="0">
                <a:solidFill>
                  <a:srgbClr val="131313"/>
                </a:solidFill>
                <a:latin typeface="Book Antiqua" panose="02040602050305030304" pitchFamily="18" charset="0"/>
                <a:ea typeface="Calibri" pitchFamily="34" charset="-122"/>
                <a:cs typeface="Calibri" pitchFamily="34" charset="-120"/>
              </a:rPr>
              <a:t>Ciencia de Datos</a:t>
            </a:r>
            <a:endParaRPr lang="es-CL" noProof="0" dirty="0">
              <a:solidFill>
                <a:srgbClr val="131313"/>
              </a:solidFill>
              <a:latin typeface="Book Antiqua" panose="0204060205030503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434839" y="4834128"/>
            <a:ext cx="3152073" cy="322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b="1" kern="0" spc="150" noProof="0" dirty="0">
                <a:solidFill>
                  <a:srgbClr val="003300"/>
                </a:solidFill>
                <a:latin typeface="Congenial" panose="02000503040000020004" pitchFamily="2" charset="0"/>
                <a:ea typeface="Calibri" pitchFamily="34" charset="-122"/>
                <a:cs typeface="Calibri" pitchFamily="34" charset="-120"/>
              </a:rPr>
              <a:t>FECHA</a:t>
            </a:r>
            <a:endParaRPr lang="es-CL" sz="1200" noProof="0" dirty="0">
              <a:solidFill>
                <a:srgbClr val="003300"/>
              </a:solidFill>
              <a:latin typeface="Congenial" panose="02000503040000020004" pitchFamily="2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434839" y="5076359"/>
            <a:ext cx="3152073" cy="372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noProof="0" dirty="0">
                <a:solidFill>
                  <a:srgbClr val="131313"/>
                </a:solidFill>
                <a:latin typeface="Book Antiqua" panose="02040602050305030304" pitchFamily="18" charset="0"/>
                <a:ea typeface="Calibri" pitchFamily="34" charset="-122"/>
                <a:cs typeface="Calibri" pitchFamily="34" charset="-120"/>
              </a:rPr>
              <a:t>18 de Junio de 2026</a:t>
            </a:r>
            <a:endParaRPr lang="es-CL" noProof="0" dirty="0">
              <a:solidFill>
                <a:srgbClr val="131313"/>
              </a:solidFill>
              <a:latin typeface="Book Antiqua" panose="02040602050305030304" pitchFamily="18" charset="0"/>
            </a:endParaRP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75DE9043-A902-C196-8A4F-E306CE1869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960" y="269744"/>
            <a:ext cx="2642825" cy="1126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13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37160" cy="137160"/>
          </a:xfrm>
          <a:prstGeom prst="rect">
            <a:avLst/>
          </a:prstGeom>
          <a:solidFill>
            <a:srgbClr val="169C46"/>
          </a:solidFill>
          <a:ln/>
        </p:spPr>
        <p:txBody>
          <a:bodyPr/>
          <a:lstStyle/>
          <a:p>
            <a:endParaRPr lang="es-CL" noProof="0" dirty="0">
              <a:solidFill>
                <a:srgbClr val="169C46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896112" y="47548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300" b="1" kern="0" spc="250" noProof="0" dirty="0">
                <a:solidFill>
                  <a:srgbClr val="169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</a:t>
            </a:r>
            <a:endParaRPr lang="es-CL" sz="1300" noProof="0" dirty="0">
              <a:solidFill>
                <a:srgbClr val="169C46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621792" y="786384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3000" b="1" noProof="0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Secciones</a:t>
            </a:r>
            <a:endParaRPr lang="es-CL" sz="3000" noProof="0" dirty="0">
              <a:solidFill>
                <a:srgbClr val="1ED760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640080" y="14813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s-CL" sz="1300" noProof="0" dirty="0"/>
          </a:p>
        </p:txBody>
      </p:sp>
      <p:sp>
        <p:nvSpPr>
          <p:cNvPr id="7" name="Shape 4"/>
          <p:cNvSpPr/>
          <p:nvPr/>
        </p:nvSpPr>
        <p:spPr>
          <a:xfrm>
            <a:off x="685800" y="2148840"/>
            <a:ext cx="566928" cy="566928"/>
          </a:xfrm>
          <a:prstGeom prst="ellipse">
            <a:avLst/>
          </a:prstGeom>
          <a:solidFill>
            <a:srgbClr val="30C95F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8" name="Text 5"/>
          <p:cNvSpPr/>
          <p:nvPr/>
        </p:nvSpPr>
        <p:spPr>
          <a:xfrm>
            <a:off x="685800" y="2167128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7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s-CL" sz="1700" noProof="0" dirty="0"/>
          </a:p>
        </p:txBody>
      </p:sp>
      <p:sp>
        <p:nvSpPr>
          <p:cNvPr id="9" name="Text 6"/>
          <p:cNvSpPr/>
          <p:nvPr/>
        </p:nvSpPr>
        <p:spPr>
          <a:xfrm>
            <a:off x="1481328" y="2148840"/>
            <a:ext cx="4599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800" b="1" noProof="0" dirty="0">
                <a:solidFill>
                  <a:srgbClr val="30C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y contexto</a:t>
            </a:r>
            <a:endParaRPr lang="es-CL" sz="1800" noProof="0" dirty="0">
              <a:solidFill>
                <a:srgbClr val="30C95F"/>
              </a:solidFill>
            </a:endParaRPr>
          </a:p>
        </p:txBody>
      </p:sp>
      <p:sp>
        <p:nvSpPr>
          <p:cNvPr id="10" name="Shape 7"/>
          <p:cNvSpPr/>
          <p:nvPr/>
        </p:nvSpPr>
        <p:spPr>
          <a:xfrm>
            <a:off x="685800" y="3017520"/>
            <a:ext cx="566928" cy="566928"/>
          </a:xfrm>
          <a:prstGeom prst="ellipse">
            <a:avLst/>
          </a:prstGeom>
          <a:solidFill>
            <a:srgbClr val="30C95F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Text 8"/>
          <p:cNvSpPr/>
          <p:nvPr/>
        </p:nvSpPr>
        <p:spPr>
          <a:xfrm>
            <a:off x="685800" y="3035808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7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s-CL" sz="1700" noProof="0" dirty="0"/>
          </a:p>
        </p:txBody>
      </p:sp>
      <p:sp>
        <p:nvSpPr>
          <p:cNvPr id="12" name="Text 9"/>
          <p:cNvSpPr/>
          <p:nvPr/>
        </p:nvSpPr>
        <p:spPr>
          <a:xfrm>
            <a:off x="1481328" y="3017520"/>
            <a:ext cx="4599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800" b="1" noProof="0" dirty="0">
                <a:solidFill>
                  <a:srgbClr val="30C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s-CL" sz="1800" noProof="0" dirty="0">
              <a:solidFill>
                <a:srgbClr val="30C95F"/>
              </a:solidFill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85800" y="3886200"/>
            <a:ext cx="566928" cy="566928"/>
          </a:xfrm>
          <a:prstGeom prst="ellipse">
            <a:avLst/>
          </a:prstGeom>
          <a:solidFill>
            <a:srgbClr val="30C95F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4" name="Text 11"/>
          <p:cNvSpPr/>
          <p:nvPr/>
        </p:nvSpPr>
        <p:spPr>
          <a:xfrm>
            <a:off x="685800" y="3904488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7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s-CL" sz="1700" noProof="0" dirty="0"/>
          </a:p>
        </p:txBody>
      </p:sp>
      <p:sp>
        <p:nvSpPr>
          <p:cNvPr id="15" name="Text 12"/>
          <p:cNvSpPr/>
          <p:nvPr/>
        </p:nvSpPr>
        <p:spPr>
          <a:xfrm>
            <a:off x="1481328" y="3886200"/>
            <a:ext cx="4599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800" b="1" noProof="0" dirty="0">
                <a:solidFill>
                  <a:srgbClr val="30C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s-CL" sz="1800" noProof="0" dirty="0">
              <a:solidFill>
                <a:srgbClr val="30C95F"/>
              </a:solidFill>
            </a:endParaRPr>
          </a:p>
        </p:txBody>
      </p:sp>
      <p:sp>
        <p:nvSpPr>
          <p:cNvPr id="16" name="Shape 13"/>
          <p:cNvSpPr/>
          <p:nvPr/>
        </p:nvSpPr>
        <p:spPr>
          <a:xfrm>
            <a:off x="685800" y="4754880"/>
            <a:ext cx="566928" cy="566928"/>
          </a:xfrm>
          <a:prstGeom prst="ellipse">
            <a:avLst/>
          </a:prstGeom>
          <a:solidFill>
            <a:srgbClr val="30C95F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7" name="Text 14"/>
          <p:cNvSpPr/>
          <p:nvPr/>
        </p:nvSpPr>
        <p:spPr>
          <a:xfrm>
            <a:off x="685800" y="4773168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7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s-CL" sz="1700" noProof="0" dirty="0"/>
          </a:p>
        </p:txBody>
      </p:sp>
      <p:sp>
        <p:nvSpPr>
          <p:cNvPr id="18" name="Text 15"/>
          <p:cNvSpPr/>
          <p:nvPr/>
        </p:nvSpPr>
        <p:spPr>
          <a:xfrm>
            <a:off x="1481328" y="4754880"/>
            <a:ext cx="4599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L" b="1">
                <a:solidFill>
                  <a:srgbClr val="30C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s-CL" sz="1800" noProof="0" dirty="0">
              <a:solidFill>
                <a:srgbClr val="30C95F"/>
              </a:solidFill>
            </a:endParaRPr>
          </a:p>
        </p:txBody>
      </p:sp>
      <p:sp>
        <p:nvSpPr>
          <p:cNvPr id="19" name="Shape 16"/>
          <p:cNvSpPr/>
          <p:nvPr/>
        </p:nvSpPr>
        <p:spPr>
          <a:xfrm>
            <a:off x="6537960" y="2148840"/>
            <a:ext cx="566928" cy="566928"/>
          </a:xfrm>
          <a:prstGeom prst="ellipse">
            <a:avLst/>
          </a:prstGeom>
          <a:solidFill>
            <a:srgbClr val="30C95F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20" name="Text 17"/>
          <p:cNvSpPr/>
          <p:nvPr/>
        </p:nvSpPr>
        <p:spPr>
          <a:xfrm>
            <a:off x="6537960" y="2167128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7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s-CL" sz="1700" noProof="0" dirty="0"/>
          </a:p>
        </p:txBody>
      </p:sp>
      <p:sp>
        <p:nvSpPr>
          <p:cNvPr id="21" name="Text 18"/>
          <p:cNvSpPr/>
          <p:nvPr/>
        </p:nvSpPr>
        <p:spPr>
          <a:xfrm>
            <a:off x="7333488" y="2148840"/>
            <a:ext cx="4599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L" b="1" dirty="0">
                <a:solidFill>
                  <a:srgbClr val="30C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la solución</a:t>
            </a:r>
            <a:endParaRPr lang="es-CL" dirty="0">
              <a:solidFill>
                <a:srgbClr val="30C95F"/>
              </a:solidFill>
            </a:endParaRPr>
          </a:p>
        </p:txBody>
      </p:sp>
      <p:sp>
        <p:nvSpPr>
          <p:cNvPr id="22" name="Shape 19"/>
          <p:cNvSpPr/>
          <p:nvPr/>
        </p:nvSpPr>
        <p:spPr>
          <a:xfrm>
            <a:off x="6537960" y="3017520"/>
            <a:ext cx="566928" cy="566928"/>
          </a:xfrm>
          <a:prstGeom prst="ellipse">
            <a:avLst/>
          </a:prstGeom>
          <a:solidFill>
            <a:srgbClr val="30C95F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23" name="Text 20"/>
          <p:cNvSpPr/>
          <p:nvPr/>
        </p:nvSpPr>
        <p:spPr>
          <a:xfrm>
            <a:off x="6537960" y="3035808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7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s-CL" sz="1700" noProof="0" dirty="0"/>
          </a:p>
        </p:txBody>
      </p:sp>
      <p:sp>
        <p:nvSpPr>
          <p:cNvPr id="24" name="Text 21"/>
          <p:cNvSpPr/>
          <p:nvPr/>
        </p:nvSpPr>
        <p:spPr>
          <a:xfrm>
            <a:off x="7333488" y="3017520"/>
            <a:ext cx="4599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800" b="1" noProof="0" dirty="0">
                <a:solidFill>
                  <a:srgbClr val="30C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s-CL" sz="1800" noProof="0" dirty="0">
              <a:solidFill>
                <a:srgbClr val="30C95F"/>
              </a:solidFill>
            </a:endParaRPr>
          </a:p>
        </p:txBody>
      </p:sp>
      <p:sp>
        <p:nvSpPr>
          <p:cNvPr id="25" name="Shape 22"/>
          <p:cNvSpPr/>
          <p:nvPr/>
        </p:nvSpPr>
        <p:spPr>
          <a:xfrm>
            <a:off x="6537960" y="3886200"/>
            <a:ext cx="566928" cy="566928"/>
          </a:xfrm>
          <a:prstGeom prst="ellipse">
            <a:avLst/>
          </a:prstGeom>
          <a:solidFill>
            <a:srgbClr val="30C95F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26" name="Text 23"/>
          <p:cNvSpPr/>
          <p:nvPr/>
        </p:nvSpPr>
        <p:spPr>
          <a:xfrm>
            <a:off x="6537960" y="3904488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7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s-CL" sz="1700" noProof="0" dirty="0"/>
          </a:p>
        </p:txBody>
      </p:sp>
      <p:sp>
        <p:nvSpPr>
          <p:cNvPr id="27" name="Text 24"/>
          <p:cNvSpPr/>
          <p:nvPr/>
        </p:nvSpPr>
        <p:spPr>
          <a:xfrm>
            <a:off x="7333488" y="3886200"/>
            <a:ext cx="4599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800" b="1" noProof="0" dirty="0">
                <a:solidFill>
                  <a:srgbClr val="30C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</a:t>
            </a:r>
            <a:endParaRPr lang="es-CL" sz="1800" noProof="0" dirty="0">
              <a:solidFill>
                <a:srgbClr val="30C95F"/>
              </a:solidFill>
            </a:endParaRPr>
          </a:p>
        </p:txBody>
      </p:sp>
      <p:sp>
        <p:nvSpPr>
          <p:cNvPr id="28" name="Text 25"/>
          <p:cNvSpPr/>
          <p:nvPr/>
        </p:nvSpPr>
        <p:spPr>
          <a:xfrm>
            <a:off x="64008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950" noProof="0" dirty="0">
                <a:solidFill>
                  <a:srgbClr val="30C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Ingeniería · Universidad Andrés Bello</a:t>
            </a:r>
            <a:endParaRPr lang="es-CL" sz="950" noProof="0" dirty="0">
              <a:solidFill>
                <a:srgbClr val="30C95F"/>
              </a:solidFill>
            </a:endParaRPr>
          </a:p>
        </p:txBody>
      </p:sp>
      <p:sp>
        <p:nvSpPr>
          <p:cNvPr id="29" name="Text 26"/>
          <p:cNvSpPr/>
          <p:nvPr/>
        </p:nvSpPr>
        <p:spPr>
          <a:xfrm>
            <a:off x="11183112" y="641908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950" noProof="0" dirty="0">
                <a:solidFill>
                  <a:srgbClr val="30C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s-CL" sz="950" noProof="0" dirty="0">
              <a:solidFill>
                <a:srgbClr val="30C95F"/>
              </a:solidFill>
            </a:endParaRPr>
          </a:p>
        </p:txBody>
      </p:sp>
      <p:pic>
        <p:nvPicPr>
          <p:cNvPr id="37" name="Imagen 36">
            <a:extLst>
              <a:ext uri="{FF2B5EF4-FFF2-40B4-BE49-F238E27FC236}">
                <a16:creationId xmlns:a16="http://schemas.microsoft.com/office/drawing/2014/main" id="{102A7257-0869-687C-5FA3-50E24AB6D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4467" y="269744"/>
            <a:ext cx="2038453" cy="86868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13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37160" cy="137160"/>
          </a:xfrm>
          <a:prstGeom prst="rect">
            <a:avLst/>
          </a:prstGeom>
          <a:solidFill>
            <a:srgbClr val="144727"/>
          </a:solidFill>
          <a:ln/>
        </p:spPr>
        <p:txBody>
          <a:bodyPr/>
          <a:lstStyle/>
          <a:p>
            <a:endParaRPr lang="es-CL" noProof="0" dirty="0">
              <a:solidFill>
                <a:srgbClr val="169C46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896112" y="47548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300" b="1" kern="0" spc="250" noProof="0" dirty="0">
                <a:solidFill>
                  <a:srgbClr val="169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01</a:t>
            </a:r>
            <a:endParaRPr lang="es-CL" sz="1300" noProof="0" dirty="0">
              <a:solidFill>
                <a:srgbClr val="169C46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621792" y="786384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3000" b="1" noProof="0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y contexto</a:t>
            </a:r>
            <a:endParaRPr lang="es-CL" sz="3000" noProof="0" dirty="0">
              <a:solidFill>
                <a:srgbClr val="1ED760"/>
              </a:solidFill>
            </a:endParaRPr>
          </a:p>
        </p:txBody>
      </p:sp>
      <p:sp>
        <p:nvSpPr>
          <p:cNvPr id="7" name="Shape 4"/>
          <p:cNvSpPr/>
          <p:nvPr/>
        </p:nvSpPr>
        <p:spPr>
          <a:xfrm>
            <a:off x="640080" y="1527048"/>
            <a:ext cx="6035040" cy="4544568"/>
          </a:xfrm>
          <a:prstGeom prst="roundRect">
            <a:avLst>
              <a:gd name="adj" fmla="val 2195"/>
            </a:avLst>
          </a:prstGeom>
          <a:solidFill>
            <a:srgbClr val="9D968E"/>
          </a:solidFill>
          <a:ln/>
          <a:effectLst>
            <a:outerShdw blurRad="76200" dist="25400" dir="5400000" algn="bl" rotWithShape="0">
              <a:srgbClr val="0B1B2F">
                <a:alpha val="10000"/>
              </a:srgbClr>
            </a:outerShdw>
          </a:effectLst>
        </p:spPr>
        <p:txBody>
          <a:bodyPr/>
          <a:lstStyle/>
          <a:p>
            <a:endParaRPr lang="es-CL" sz="2000" noProof="0" dirty="0"/>
          </a:p>
        </p:txBody>
      </p:sp>
      <p:sp>
        <p:nvSpPr>
          <p:cNvPr id="8" name="Text 5"/>
          <p:cNvSpPr/>
          <p:nvPr/>
        </p:nvSpPr>
        <p:spPr>
          <a:xfrm>
            <a:off x="1051560" y="1847088"/>
            <a:ext cx="5212080" cy="443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2800" b="1" noProof="0" dirty="0">
                <a:solidFill>
                  <a:srgbClr val="144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y antecedentes</a:t>
            </a:r>
            <a:endParaRPr lang="es-CL" sz="2800" b="1" noProof="0" dirty="0">
              <a:solidFill>
                <a:srgbClr val="144727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1051560" y="2395727"/>
            <a:ext cx="5212080" cy="31036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s-CL" sz="2000" noProof="0" dirty="0">
                <a:solidFill>
                  <a:srgbClr val="144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precio depende de la experiencia humana y criterios subjetivos</a:t>
            </a:r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s-CL" sz="2000" noProof="0" dirty="0">
                <a:solidFill>
                  <a:srgbClr val="144727"/>
                </a:solidFill>
                <a:latin typeface="Calibri" pitchFamily="34" charset="0"/>
                <a:cs typeface="Calibri" pitchFamily="34" charset="-120"/>
              </a:rPr>
              <a:t>El precio depende de muchas variables, como el modelo, año, kilometraje, transmisión, entre otras más.</a:t>
            </a:r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s-CL" sz="2000" dirty="0">
                <a:solidFill>
                  <a:srgbClr val="144727"/>
                </a:solidFill>
                <a:latin typeface="Calibri" pitchFamily="34" charset="0"/>
                <a:cs typeface="Calibri" pitchFamily="34" charset="-120"/>
              </a:rPr>
              <a:t>Estudios recientes muestran que se puede estimar el precio mediante valores históricos</a:t>
            </a:r>
            <a:r>
              <a:rPr lang="es-CL" sz="1600" dirty="0">
                <a:solidFill>
                  <a:srgbClr val="9AA6B4"/>
                </a:solidFill>
                <a:latin typeface="Calibri" pitchFamily="34" charset="0"/>
                <a:cs typeface="Calibri" pitchFamily="34" charset="-120"/>
              </a:rPr>
              <a:t>.</a:t>
            </a:r>
            <a:endParaRPr lang="es-CL" sz="1600" noProof="0" dirty="0"/>
          </a:p>
        </p:txBody>
      </p:sp>
      <p:sp>
        <p:nvSpPr>
          <p:cNvPr id="10" name="Shape 7"/>
          <p:cNvSpPr/>
          <p:nvPr/>
        </p:nvSpPr>
        <p:spPr>
          <a:xfrm>
            <a:off x="6995160" y="1527048"/>
            <a:ext cx="4553712" cy="4544568"/>
          </a:xfrm>
          <a:prstGeom prst="roundRect">
            <a:avLst>
              <a:gd name="adj" fmla="val 2439"/>
            </a:avLst>
          </a:prstGeom>
          <a:solidFill>
            <a:srgbClr val="12273F"/>
          </a:solidFill>
          <a:ln/>
          <a:effectLst>
            <a:outerShdw blurRad="76200" dist="25400" dir="5400000" algn="bl" rotWithShape="0">
              <a:srgbClr val="0B1B2F">
                <a:alpha val="10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pic>
        <p:nvPicPr>
          <p:cNvPr id="11" name="Image 1" descr="/tmp/u_quote.png"/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158182" y="1878624"/>
            <a:ext cx="296487" cy="359400"/>
          </a:xfrm>
          <a:prstGeom prst="rect">
            <a:avLst/>
          </a:prstGeom>
          <a:noFill/>
        </p:spPr>
      </p:pic>
      <p:sp>
        <p:nvSpPr>
          <p:cNvPr id="12" name="Text 8"/>
          <p:cNvSpPr/>
          <p:nvPr/>
        </p:nvSpPr>
        <p:spPr>
          <a:xfrm>
            <a:off x="7617691" y="1843445"/>
            <a:ext cx="3730752" cy="443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2400" b="1" kern="0" spc="100" noProof="0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/ pregunta</a:t>
            </a:r>
            <a:endParaRPr lang="es-CL" sz="2400" noProof="0" dirty="0">
              <a:solidFill>
                <a:srgbClr val="1ED760"/>
              </a:solidFill>
            </a:endParaRPr>
          </a:p>
        </p:txBody>
      </p:sp>
      <p:sp>
        <p:nvSpPr>
          <p:cNvPr id="13" name="Text 9"/>
          <p:cNvSpPr/>
          <p:nvPr/>
        </p:nvSpPr>
        <p:spPr>
          <a:xfrm>
            <a:off x="7158182" y="2379379"/>
            <a:ext cx="4267200" cy="3068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s-MX" sz="2000" noProof="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una referencia objetiva y consistente para estimar el valor de un vehículo usado, generando sobrevaloraciones o subvaloraciones. Entonces, </a:t>
            </a:r>
            <a:r>
              <a:rPr lang="es-MX" sz="2000" b="1" noProof="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¿Hasta qué punto es posible estimar el precio de un vehículo usado utilizando sus características mediante técnicas de aprendizaje automático?</a:t>
            </a:r>
            <a:endParaRPr lang="es-CL" sz="2000" b="1" noProof="0" dirty="0"/>
          </a:p>
        </p:txBody>
      </p:sp>
      <p:sp>
        <p:nvSpPr>
          <p:cNvPr id="14" name="Text 10"/>
          <p:cNvSpPr/>
          <p:nvPr/>
        </p:nvSpPr>
        <p:spPr>
          <a:xfrm>
            <a:off x="64008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950" noProof="0" dirty="0">
                <a:solidFill>
                  <a:srgbClr val="30C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Ingeniería · Universidad Andrés Bello</a:t>
            </a:r>
            <a:endParaRPr lang="es-CL" sz="950" noProof="0" dirty="0">
              <a:solidFill>
                <a:srgbClr val="30C95F"/>
              </a:solidFill>
            </a:endParaRPr>
          </a:p>
        </p:txBody>
      </p:sp>
      <p:sp>
        <p:nvSpPr>
          <p:cNvPr id="15" name="Text 11"/>
          <p:cNvSpPr/>
          <p:nvPr/>
        </p:nvSpPr>
        <p:spPr>
          <a:xfrm>
            <a:off x="11183112" y="641908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950" noProof="0" dirty="0">
                <a:solidFill>
                  <a:srgbClr val="30C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s-CL" sz="950" noProof="0" dirty="0">
              <a:solidFill>
                <a:srgbClr val="30C95F"/>
              </a:solidFill>
            </a:endParaRP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E78BDE35-5578-2F48-E2EE-0C0427F9A7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467" y="269744"/>
            <a:ext cx="2038453" cy="86868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13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37160" cy="137160"/>
          </a:xfrm>
          <a:prstGeom prst="rect">
            <a:avLst/>
          </a:prstGeom>
          <a:solidFill>
            <a:srgbClr val="1ED760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896112" y="475488"/>
            <a:ext cx="7772400" cy="310896"/>
          </a:xfrm>
          <a:prstGeom prst="rect">
            <a:avLst/>
          </a:prstGeom>
          <a:solidFill>
            <a:srgbClr val="131313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300" b="1" kern="0" spc="250" noProof="0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02</a:t>
            </a:r>
            <a:endParaRPr lang="es-CL" sz="1300" noProof="0" dirty="0">
              <a:solidFill>
                <a:srgbClr val="1ED76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621792" y="786384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3000" b="1" noProof="0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s-CL" sz="3000" noProof="0" dirty="0">
              <a:solidFill>
                <a:srgbClr val="1ED760"/>
              </a:solidFill>
            </a:endParaRPr>
          </a:p>
        </p:txBody>
      </p:sp>
      <p:sp>
        <p:nvSpPr>
          <p:cNvPr id="7" name="Shape 4"/>
          <p:cNvSpPr/>
          <p:nvPr/>
        </p:nvSpPr>
        <p:spPr>
          <a:xfrm>
            <a:off x="621792" y="1440179"/>
            <a:ext cx="10927080" cy="1651993"/>
          </a:xfrm>
          <a:prstGeom prst="roundRect">
            <a:avLst>
              <a:gd name="adj" fmla="val 6207"/>
            </a:avLst>
          </a:prstGeom>
          <a:solidFill>
            <a:srgbClr val="12273F"/>
          </a:solidFill>
          <a:ln/>
          <a:effectLst>
            <a:outerShdw blurRad="76200" dist="25400" dir="5400000" algn="bl" rotWithShape="0">
              <a:srgbClr val="0B1B2F">
                <a:alpha val="10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8" name="Shape 5"/>
          <p:cNvSpPr/>
          <p:nvPr/>
        </p:nvSpPr>
        <p:spPr>
          <a:xfrm>
            <a:off x="987551" y="1783080"/>
            <a:ext cx="641153" cy="726758"/>
          </a:xfrm>
          <a:prstGeom prst="ellipse">
            <a:avLst/>
          </a:prstGeom>
          <a:solidFill>
            <a:srgbClr val="12273F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Text 6"/>
          <p:cNvSpPr/>
          <p:nvPr/>
        </p:nvSpPr>
        <p:spPr>
          <a:xfrm>
            <a:off x="1856232" y="1604772"/>
            <a:ext cx="9369994" cy="311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400" b="1" kern="0" spc="150" noProof="0" dirty="0">
                <a:solidFill>
                  <a:srgbClr val="30C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s-CL" sz="1400" noProof="0" dirty="0">
              <a:solidFill>
                <a:srgbClr val="30C95F"/>
              </a:solidFill>
            </a:endParaRPr>
          </a:p>
        </p:txBody>
      </p:sp>
      <p:sp>
        <p:nvSpPr>
          <p:cNvPr id="11" name="Text 7"/>
          <p:cNvSpPr/>
          <p:nvPr/>
        </p:nvSpPr>
        <p:spPr>
          <a:xfrm>
            <a:off x="1856232" y="1879091"/>
            <a:ext cx="9369994" cy="931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MX" noProof="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 sistema basado en aprendizaje automático capaz de estimar el precio de vehículos usados a partir de sus características, integrándolo en una aplicación web funcional a un modelo de regresión para apoyar procesos de tasación.</a:t>
            </a:r>
            <a:endParaRPr lang="es-CL" noProof="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2" name="Shape 8"/>
          <p:cNvSpPr/>
          <p:nvPr/>
        </p:nvSpPr>
        <p:spPr>
          <a:xfrm>
            <a:off x="621792" y="3242648"/>
            <a:ext cx="10927080" cy="2491740"/>
          </a:xfrm>
          <a:prstGeom prst="roundRect">
            <a:avLst>
              <a:gd name="adj" fmla="val 3750"/>
            </a:avLst>
          </a:prstGeom>
          <a:solidFill>
            <a:srgbClr val="12273F"/>
          </a:solidFill>
          <a:ln/>
          <a:effectLst>
            <a:outerShdw blurRad="76200" dist="25400" dir="5400000" algn="bl" rotWithShape="0">
              <a:srgbClr val="0B1B2F">
                <a:alpha val="10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13" name="Text 9"/>
          <p:cNvSpPr/>
          <p:nvPr/>
        </p:nvSpPr>
        <p:spPr>
          <a:xfrm>
            <a:off x="1033272" y="3516968"/>
            <a:ext cx="10102740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600" b="1" kern="0" spc="150" noProof="0" dirty="0">
                <a:solidFill>
                  <a:srgbClr val="30C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ESPECÍFICOS</a:t>
            </a:r>
            <a:endParaRPr lang="es-CL" sz="1600" noProof="0" dirty="0">
              <a:solidFill>
                <a:srgbClr val="30C95F"/>
              </a:solidFill>
            </a:endParaRPr>
          </a:p>
        </p:txBody>
      </p:sp>
      <p:sp>
        <p:nvSpPr>
          <p:cNvPr id="14" name="Text 10"/>
          <p:cNvSpPr/>
          <p:nvPr/>
        </p:nvSpPr>
        <p:spPr>
          <a:xfrm>
            <a:off x="1033272" y="3907989"/>
            <a:ext cx="10102740" cy="1401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Font typeface="+mj-lt"/>
              <a:buAutoNum type="arabicPeriod"/>
            </a:pPr>
            <a:r>
              <a:rPr lang="es-CL" sz="2000" dirty="0">
                <a:solidFill>
                  <a:schemeClr val="bg1">
                    <a:lumMod val="75000"/>
                  </a:schemeClr>
                </a:solidFill>
              </a:rPr>
              <a:t>Analizar y preparar un conjunto de más de 426.000 registros de vehículos usados. </a:t>
            </a:r>
          </a:p>
          <a:p>
            <a:pPr marL="342900" indent="-342900">
              <a:buFont typeface="+mj-lt"/>
              <a:buAutoNum type="arabicPeriod"/>
            </a:pPr>
            <a:r>
              <a:rPr lang="es-CL" sz="2000" dirty="0">
                <a:solidFill>
                  <a:schemeClr val="bg1">
                    <a:lumMod val="75000"/>
                  </a:schemeClr>
                </a:solidFill>
              </a:rPr>
              <a:t>Entrenar y comparar cinco técnicas de regresión utilizando métricas estándar de evaluación. </a:t>
            </a:r>
          </a:p>
          <a:p>
            <a:pPr marL="342900" indent="-342900">
              <a:buFont typeface="+mj-lt"/>
              <a:buAutoNum type="arabicPeriod"/>
            </a:pPr>
            <a:r>
              <a:rPr lang="es-CL" sz="2000" dirty="0">
                <a:solidFill>
                  <a:schemeClr val="bg1">
                    <a:lumMod val="75000"/>
                  </a:schemeClr>
                </a:solidFill>
              </a:rPr>
              <a:t>Seleccionar el modelo con mejor desempeño predictivo para la estimación de precios. </a:t>
            </a:r>
          </a:p>
          <a:p>
            <a:pPr marL="342900" indent="-342900">
              <a:buFont typeface="+mj-lt"/>
              <a:buAutoNum type="arabicPeriod"/>
            </a:pPr>
            <a:r>
              <a:rPr lang="es-CL" sz="2000" dirty="0">
                <a:solidFill>
                  <a:schemeClr val="bg1">
                    <a:lumMod val="75000"/>
                  </a:schemeClr>
                </a:solidFill>
              </a:rPr>
              <a:t>Implementar una aplicación web con </a:t>
            </a:r>
            <a:r>
              <a:rPr lang="es-CL" sz="2000" dirty="0" err="1">
                <a:solidFill>
                  <a:schemeClr val="bg1">
                    <a:lumMod val="75000"/>
                  </a:schemeClr>
                </a:solidFill>
              </a:rPr>
              <a:t>backend</a:t>
            </a:r>
            <a:r>
              <a:rPr lang="es-CL" sz="2000" dirty="0">
                <a:solidFill>
                  <a:schemeClr val="bg1">
                    <a:lumMod val="75000"/>
                  </a:schemeClr>
                </a:solidFill>
              </a:rPr>
              <a:t> y </a:t>
            </a:r>
            <a:r>
              <a:rPr lang="es-CL" sz="2000" dirty="0" err="1">
                <a:solidFill>
                  <a:schemeClr val="bg1">
                    <a:lumMod val="75000"/>
                  </a:schemeClr>
                </a:solidFill>
              </a:rPr>
              <a:t>frontend</a:t>
            </a:r>
            <a:r>
              <a:rPr lang="es-CL" sz="2000" dirty="0">
                <a:solidFill>
                  <a:schemeClr val="bg1">
                    <a:lumMod val="75000"/>
                  </a:schemeClr>
                </a:solidFill>
              </a:rPr>
              <a:t> capaces de realizar predicciones en tiempo real</a:t>
            </a:r>
            <a:r>
              <a:rPr lang="es-CL" sz="2000" dirty="0"/>
              <a:t>.</a:t>
            </a:r>
          </a:p>
          <a:p>
            <a:pPr marL="279400" indent="-279400">
              <a:spcAft>
                <a:spcPts val="1200"/>
              </a:spcAft>
              <a:buSzPct val="100000"/>
              <a:buFont typeface="+mj-lt"/>
              <a:buAutoNum type="arabicPeriod"/>
            </a:pPr>
            <a:endParaRPr lang="es-CL" noProof="0" dirty="0"/>
          </a:p>
        </p:txBody>
      </p:sp>
      <p:sp>
        <p:nvSpPr>
          <p:cNvPr id="15" name="Text 11"/>
          <p:cNvSpPr/>
          <p:nvPr/>
        </p:nvSpPr>
        <p:spPr>
          <a:xfrm>
            <a:off x="64008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950" noProof="0" dirty="0">
                <a:solidFill>
                  <a:srgbClr val="30C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Ingeniería · Universidad Andrés Bello</a:t>
            </a:r>
            <a:endParaRPr lang="es-CL" sz="950" noProof="0" dirty="0">
              <a:solidFill>
                <a:srgbClr val="30C95F"/>
              </a:solidFill>
            </a:endParaRPr>
          </a:p>
        </p:txBody>
      </p:sp>
      <p:sp>
        <p:nvSpPr>
          <p:cNvPr id="16" name="Text 12"/>
          <p:cNvSpPr/>
          <p:nvPr/>
        </p:nvSpPr>
        <p:spPr>
          <a:xfrm>
            <a:off x="11183112" y="641908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950" noProof="0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s-CL" sz="950" noProof="0" dirty="0">
              <a:solidFill>
                <a:srgbClr val="1ED760"/>
              </a:solidFill>
            </a:endParaRP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8C383B07-59FC-1231-545A-3DE17533FB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373" y="1755648"/>
            <a:ext cx="931938" cy="931938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77559F71-7F18-F507-79D4-BD2A5882E5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467" y="269744"/>
            <a:ext cx="2038453" cy="86868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13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37160" cy="137160"/>
          </a:xfrm>
          <a:prstGeom prst="rect">
            <a:avLst/>
          </a:prstGeom>
          <a:solidFill>
            <a:srgbClr val="1ED760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896112" y="47548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300" b="1" kern="0" spc="250" noProof="0" dirty="0">
                <a:solidFill>
                  <a:srgbClr val="30C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03</a:t>
            </a:r>
            <a:endParaRPr lang="es-CL" sz="1300" noProof="0" dirty="0">
              <a:solidFill>
                <a:srgbClr val="30C95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621792" y="786384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3000" b="1" noProof="0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s-CL" sz="3000" noProof="0" dirty="0">
              <a:solidFill>
                <a:srgbClr val="1ED760"/>
              </a:solidFill>
            </a:endParaRPr>
          </a:p>
        </p:txBody>
      </p:sp>
      <p:sp>
        <p:nvSpPr>
          <p:cNvPr id="7" name="Shape 4"/>
          <p:cNvSpPr/>
          <p:nvPr/>
        </p:nvSpPr>
        <p:spPr>
          <a:xfrm>
            <a:off x="670561" y="1527048"/>
            <a:ext cx="4927599" cy="4764024"/>
          </a:xfrm>
          <a:prstGeom prst="roundRect">
            <a:avLst>
              <a:gd name="adj" fmla="val 2195"/>
            </a:avLst>
          </a:prstGeom>
          <a:solidFill>
            <a:srgbClr val="12273F"/>
          </a:solidFill>
          <a:ln/>
          <a:effectLst>
            <a:outerShdw blurRad="76200" dist="25400" dir="5400000" algn="bl" rotWithShape="0">
              <a:srgbClr val="0B1B2F">
                <a:alpha val="10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8" name="Text 5"/>
          <p:cNvSpPr/>
          <p:nvPr/>
        </p:nvSpPr>
        <p:spPr>
          <a:xfrm>
            <a:off x="670561" y="1170083"/>
            <a:ext cx="4663440" cy="421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600" b="1" noProof="0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y etapas</a:t>
            </a:r>
            <a:endParaRPr lang="es-CL" sz="1600" noProof="0" dirty="0">
              <a:solidFill>
                <a:srgbClr val="1ED760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777240" y="1704729"/>
            <a:ext cx="4663440" cy="374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s-CL" b="1" noProof="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</a:t>
            </a:r>
          </a:p>
          <a:p>
            <a:pPr lvl="1">
              <a:spcAft>
                <a:spcPts val="1300"/>
              </a:spcAft>
              <a:buSzPct val="100000"/>
            </a:pPr>
            <a:r>
              <a:rPr lang="es-CL" noProof="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utilizada para estructurar todo el ciclo de vida del proyecto de ciencia de datos.</a:t>
            </a:r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s-CL" b="1" noProof="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Etapas:</a:t>
            </a:r>
          </a:p>
          <a:p>
            <a:pPr marL="800100" lvl="1" indent="-342900">
              <a:spcAft>
                <a:spcPts val="1300"/>
              </a:spcAft>
              <a:buSzPct val="100000"/>
              <a:buFont typeface="+mj-lt"/>
              <a:buAutoNum type="arabicPeriod"/>
            </a:pPr>
            <a:r>
              <a:rPr lang="es-CL" noProof="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Comprensión del problema</a:t>
            </a:r>
          </a:p>
          <a:p>
            <a:pPr marL="800100" lvl="1" indent="-342900">
              <a:spcAft>
                <a:spcPts val="1300"/>
              </a:spcAft>
              <a:buSzPct val="100000"/>
              <a:buFont typeface="+mj-lt"/>
              <a:buAutoNum type="arabicPeriod"/>
            </a:pPr>
            <a:r>
              <a:rPr lang="es-CL" noProof="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Comprensión y análisis de datos</a:t>
            </a:r>
          </a:p>
          <a:p>
            <a:pPr marL="800100" lvl="1" indent="-342900">
              <a:spcAft>
                <a:spcPts val="1300"/>
              </a:spcAft>
              <a:buSzPct val="100000"/>
              <a:buFont typeface="+mj-lt"/>
              <a:buAutoNum type="arabicPeriod"/>
            </a:pPr>
            <a:r>
              <a:rPr lang="es-CL" noProof="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y preprocesamiento</a:t>
            </a:r>
          </a:p>
          <a:p>
            <a:pPr marL="800100" lvl="1" indent="-342900">
              <a:spcAft>
                <a:spcPts val="1300"/>
              </a:spcAft>
              <a:buSzPct val="100000"/>
              <a:buFont typeface="+mj-lt"/>
              <a:buAutoNum type="arabicPeriod"/>
            </a:pPr>
            <a:r>
              <a:rPr lang="es-CL" noProof="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 de modelos</a:t>
            </a:r>
          </a:p>
          <a:p>
            <a:pPr marL="800100" lvl="1" indent="-342900">
              <a:spcAft>
                <a:spcPts val="1300"/>
              </a:spcAft>
              <a:buSzPct val="100000"/>
              <a:buFont typeface="+mj-lt"/>
              <a:buAutoNum type="arabicPeriod"/>
            </a:pPr>
            <a:r>
              <a:rPr lang="es-CL" noProof="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y comparación</a:t>
            </a:r>
          </a:p>
          <a:p>
            <a:pPr marL="800100" lvl="1" indent="-342900">
              <a:spcAft>
                <a:spcPts val="1300"/>
              </a:spcAft>
              <a:buSzPct val="100000"/>
              <a:buFont typeface="+mj-lt"/>
              <a:buAutoNum type="arabicPeriod"/>
            </a:pPr>
            <a:r>
              <a:rPr lang="es-CL" noProof="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de la solución</a:t>
            </a:r>
            <a:endParaRPr lang="es-CL" noProof="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3" name="Text 9"/>
          <p:cNvSpPr/>
          <p:nvPr/>
        </p:nvSpPr>
        <p:spPr>
          <a:xfrm>
            <a:off x="64008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950" noProof="0" dirty="0">
                <a:solidFill>
                  <a:srgbClr val="30C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Ingeniería · Universidad Andrés Bello</a:t>
            </a:r>
            <a:endParaRPr lang="es-CL" sz="950" noProof="0" dirty="0">
              <a:solidFill>
                <a:srgbClr val="30C95F"/>
              </a:solidFill>
            </a:endParaRPr>
          </a:p>
        </p:txBody>
      </p:sp>
      <p:sp>
        <p:nvSpPr>
          <p:cNvPr id="14" name="Text 10"/>
          <p:cNvSpPr/>
          <p:nvPr/>
        </p:nvSpPr>
        <p:spPr>
          <a:xfrm>
            <a:off x="11183112" y="641908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950" noProof="0" dirty="0">
                <a:solidFill>
                  <a:srgbClr val="30C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s-CL" sz="950" noProof="0" dirty="0">
              <a:solidFill>
                <a:srgbClr val="30C95F"/>
              </a:solidFill>
            </a:endParaRPr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1727C52B-E7CA-9E86-8B28-E2D2B7FC5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4467" y="269744"/>
            <a:ext cx="2038453" cy="868687"/>
          </a:xfrm>
          <a:prstGeom prst="rect">
            <a:avLst/>
          </a:prstGeom>
        </p:spPr>
      </p:pic>
      <p:grpSp>
        <p:nvGrpSpPr>
          <p:cNvPr id="38" name="Grupo 37">
            <a:extLst>
              <a:ext uri="{FF2B5EF4-FFF2-40B4-BE49-F238E27FC236}">
                <a16:creationId xmlns:a16="http://schemas.microsoft.com/office/drawing/2014/main" id="{2E00478C-B085-E061-870F-BFB91356C5C5}"/>
              </a:ext>
            </a:extLst>
          </p:cNvPr>
          <p:cNvGrpSpPr/>
          <p:nvPr/>
        </p:nvGrpSpPr>
        <p:grpSpPr>
          <a:xfrm>
            <a:off x="5547359" y="1131457"/>
            <a:ext cx="6275979" cy="5353314"/>
            <a:chOff x="5656941" y="1065774"/>
            <a:chExt cx="6275979" cy="5353314"/>
          </a:xfrm>
        </p:grpSpPr>
        <p:pic>
          <p:nvPicPr>
            <p:cNvPr id="20" name="Imagen 19">
              <a:extLst>
                <a:ext uri="{FF2B5EF4-FFF2-40B4-BE49-F238E27FC236}">
                  <a16:creationId xmlns:a16="http://schemas.microsoft.com/office/drawing/2014/main" id="{B36D9F40-8609-994F-B1AF-D49E1B0043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356" t="15091" r="4250" b="77281"/>
            <a:stretch>
              <a:fillRect/>
            </a:stretch>
          </p:blipFill>
          <p:spPr>
            <a:xfrm>
              <a:off x="5656941" y="1065774"/>
              <a:ext cx="6275979" cy="292608"/>
            </a:xfrm>
            <a:prstGeom prst="rect">
              <a:avLst/>
            </a:prstGeom>
          </p:spPr>
        </p:pic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F347507C-D081-C141-EC8B-E6FC4CC778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357" t="59957" r="69264" b="8539"/>
            <a:stretch>
              <a:fillRect/>
            </a:stretch>
          </p:blipFill>
          <p:spPr>
            <a:xfrm>
              <a:off x="9191441" y="4691349"/>
              <a:ext cx="2560697" cy="1708287"/>
            </a:xfrm>
            <a:prstGeom prst="rect">
              <a:avLst/>
            </a:prstGeom>
          </p:spPr>
        </p:pic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669E364A-886B-FAC6-2E61-CE5EAC7351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69946" t="26029" r="4250" b="46904"/>
            <a:stretch>
              <a:fillRect/>
            </a:stretch>
          </p:blipFill>
          <p:spPr>
            <a:xfrm>
              <a:off x="9252966" y="2999504"/>
              <a:ext cx="2504873" cy="1467721"/>
            </a:xfrm>
            <a:prstGeom prst="rect">
              <a:avLst/>
            </a:prstGeom>
          </p:spPr>
        </p:pic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2C640872-7F69-FEE5-B768-E559FEB435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356" t="27204" r="37440" b="46602"/>
            <a:stretch>
              <a:fillRect/>
            </a:stretch>
          </p:blipFill>
          <p:spPr>
            <a:xfrm>
              <a:off x="6107815" y="1342340"/>
              <a:ext cx="5650024" cy="1420398"/>
            </a:xfrm>
            <a:prstGeom prst="rect">
              <a:avLst/>
            </a:prstGeom>
          </p:spPr>
        </p:pic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E6B76629-DFF5-9DEE-A54D-6F82B736B0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70292" t="63671" r="4853" b="9261"/>
            <a:stretch>
              <a:fillRect/>
            </a:stretch>
          </p:blipFill>
          <p:spPr>
            <a:xfrm>
              <a:off x="6153150" y="3032203"/>
              <a:ext cx="2412772" cy="1467720"/>
            </a:xfrm>
            <a:prstGeom prst="rect">
              <a:avLst/>
            </a:prstGeom>
          </p:spPr>
        </p:pic>
        <p:pic>
          <p:nvPicPr>
            <p:cNvPr id="29" name="Imagen 28">
              <a:extLst>
                <a:ext uri="{FF2B5EF4-FFF2-40B4-BE49-F238E27FC236}">
                  <a16:creationId xmlns:a16="http://schemas.microsoft.com/office/drawing/2014/main" id="{2F177D60-90DB-DA62-2CCD-B534CB678B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0408" t="73793" r="66483" b="17912"/>
            <a:stretch>
              <a:fillRect/>
            </a:stretch>
          </p:blipFill>
          <p:spPr>
            <a:xfrm rot="16200000">
              <a:off x="10392268" y="2730863"/>
              <a:ext cx="301816" cy="449822"/>
            </a:xfrm>
            <a:prstGeom prst="rect">
              <a:avLst/>
            </a:prstGeom>
          </p:spPr>
        </p:pic>
        <p:pic>
          <p:nvPicPr>
            <p:cNvPr id="31" name="Imagen 30">
              <a:extLst>
                <a:ext uri="{FF2B5EF4-FFF2-40B4-BE49-F238E27FC236}">
                  <a16:creationId xmlns:a16="http://schemas.microsoft.com/office/drawing/2014/main" id="{7DFB76DD-C9BC-8F70-2591-FD2A20959CB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0777" t="73793" r="63117" b="19741"/>
            <a:stretch>
              <a:fillRect/>
            </a:stretch>
          </p:blipFill>
          <p:spPr>
            <a:xfrm>
              <a:off x="8598738" y="3644059"/>
              <a:ext cx="592703" cy="350645"/>
            </a:xfrm>
            <a:prstGeom prst="rect">
              <a:avLst/>
            </a:prstGeom>
          </p:spPr>
        </p:pic>
        <p:pic>
          <p:nvPicPr>
            <p:cNvPr id="35" name="Imagen 34">
              <a:extLst>
                <a:ext uri="{FF2B5EF4-FFF2-40B4-BE49-F238E27FC236}">
                  <a16:creationId xmlns:a16="http://schemas.microsoft.com/office/drawing/2014/main" id="{090027C9-7B48-3A53-8835-04A9CE7AEB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0408" t="73793" r="61578" b="19741"/>
            <a:stretch>
              <a:fillRect/>
            </a:stretch>
          </p:blipFill>
          <p:spPr>
            <a:xfrm flipH="1">
              <a:off x="8453625" y="5352346"/>
              <a:ext cx="777924" cy="350645"/>
            </a:xfrm>
            <a:prstGeom prst="rect">
              <a:avLst/>
            </a:prstGeom>
          </p:spPr>
        </p:pic>
        <p:pic>
          <p:nvPicPr>
            <p:cNvPr id="37" name="Imagen 36">
              <a:extLst>
                <a:ext uri="{FF2B5EF4-FFF2-40B4-BE49-F238E27FC236}">
                  <a16:creationId xmlns:a16="http://schemas.microsoft.com/office/drawing/2014/main" id="{9E991458-7741-A5D9-A189-9120F3ECD1B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8224" t="59957" r="37562" b="8539"/>
            <a:stretch>
              <a:fillRect/>
            </a:stretch>
          </p:blipFill>
          <p:spPr>
            <a:xfrm>
              <a:off x="6215400" y="4710801"/>
              <a:ext cx="2350522" cy="1708287"/>
            </a:xfrm>
            <a:prstGeom prst="rect">
              <a:avLst/>
            </a:prstGeom>
          </p:spPr>
        </p:pic>
        <p:pic>
          <p:nvPicPr>
            <p:cNvPr id="33" name="Imagen 32">
              <a:extLst>
                <a:ext uri="{FF2B5EF4-FFF2-40B4-BE49-F238E27FC236}">
                  <a16:creationId xmlns:a16="http://schemas.microsoft.com/office/drawing/2014/main" id="{D828DD2E-A97C-BC0E-0F4D-31BF181CF4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0408" t="73793" r="66235" b="19741"/>
            <a:stretch>
              <a:fillRect/>
            </a:stretch>
          </p:blipFill>
          <p:spPr>
            <a:xfrm rot="16200000">
              <a:off x="7268560" y="4535477"/>
              <a:ext cx="325823" cy="35064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1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88767C-1D43-94BE-3FC6-256B79C38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0DC193D-AC82-785A-1C3B-0F0FA048B9E4}"/>
              </a:ext>
            </a:extLst>
          </p:cNvPr>
          <p:cNvSpPr/>
          <p:nvPr/>
        </p:nvSpPr>
        <p:spPr>
          <a:xfrm>
            <a:off x="640080" y="566928"/>
            <a:ext cx="137160" cy="137160"/>
          </a:xfrm>
          <a:prstGeom prst="rect">
            <a:avLst/>
          </a:prstGeom>
          <a:solidFill>
            <a:srgbClr val="30C95F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4986088-58F7-3F4F-24F8-473F46033F8B}"/>
              </a:ext>
            </a:extLst>
          </p:cNvPr>
          <p:cNvSpPr/>
          <p:nvPr/>
        </p:nvSpPr>
        <p:spPr>
          <a:xfrm>
            <a:off x="896112" y="47548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b="1" kern="0" spc="250" noProof="0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03</a:t>
            </a:r>
            <a:endParaRPr lang="es-CL" sz="1200" noProof="0" dirty="0">
              <a:solidFill>
                <a:srgbClr val="1ED760"/>
              </a:solidFill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293467A-6CEC-8F56-C591-DF9A1D33E1D5}"/>
              </a:ext>
            </a:extLst>
          </p:cNvPr>
          <p:cNvSpPr/>
          <p:nvPr/>
        </p:nvSpPr>
        <p:spPr>
          <a:xfrm>
            <a:off x="621792" y="786384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3000" b="1" noProof="0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s-CL" sz="3000" noProof="0" dirty="0">
              <a:solidFill>
                <a:srgbClr val="1ED760"/>
              </a:solidFill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4BF0239E-AAD7-DB80-75CA-D23E39514E3B}"/>
              </a:ext>
            </a:extLst>
          </p:cNvPr>
          <p:cNvSpPr/>
          <p:nvPr/>
        </p:nvSpPr>
        <p:spPr>
          <a:xfrm>
            <a:off x="670561" y="1261642"/>
            <a:ext cx="5486400" cy="5029430"/>
          </a:xfrm>
          <a:prstGeom prst="roundRect">
            <a:avLst>
              <a:gd name="adj" fmla="val 2195"/>
            </a:avLst>
          </a:prstGeom>
          <a:solidFill>
            <a:srgbClr val="12273F"/>
          </a:solidFill>
          <a:ln/>
          <a:effectLst>
            <a:outerShdw blurRad="76200" dist="25400" dir="5400000" algn="bl" rotWithShape="0">
              <a:srgbClr val="0B1B2F">
                <a:alpha val="10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D6B9647E-5BEE-5731-7202-3A716D22FCCA}"/>
              </a:ext>
            </a:extLst>
          </p:cNvPr>
          <p:cNvSpPr/>
          <p:nvPr/>
        </p:nvSpPr>
        <p:spPr>
          <a:xfrm>
            <a:off x="896112" y="1439979"/>
            <a:ext cx="4663440" cy="374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s-CL" b="1" noProof="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Herramientas:</a:t>
            </a:r>
          </a:p>
          <a:p>
            <a:pPr marL="800100" lvl="1" indent="-342900">
              <a:spcAft>
                <a:spcPts val="1300"/>
              </a:spcAft>
              <a:buSzPct val="100000"/>
              <a:buFont typeface="+mj-lt"/>
              <a:buAutoNum type="arabicPeriod"/>
            </a:pPr>
            <a:r>
              <a:rPr lang="es-CL" noProof="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</a:p>
          <a:p>
            <a:pPr marL="800100" lvl="1" indent="-342900">
              <a:spcAft>
                <a:spcPts val="1300"/>
              </a:spcAft>
              <a:buSzPct val="100000"/>
              <a:buFont typeface="+mj-lt"/>
              <a:buAutoNum type="arabicPeriod"/>
            </a:pPr>
            <a:r>
              <a:rPr lang="es-CL" noProof="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</a:p>
          <a:p>
            <a:pPr marL="800100" lvl="1" indent="-342900">
              <a:spcAft>
                <a:spcPts val="1300"/>
              </a:spcAft>
              <a:buSzPct val="100000"/>
              <a:buFont typeface="+mj-lt"/>
              <a:buAutoNum type="arabicPeriod"/>
            </a:pPr>
            <a:r>
              <a:rPr lang="es-CL" noProof="0" dirty="0" err="1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</a:t>
            </a:r>
            <a:r>
              <a:rPr lang="es-CL" noProof="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-Learn</a:t>
            </a:r>
          </a:p>
          <a:p>
            <a:pPr marL="800100" lvl="1" indent="-342900">
              <a:spcAft>
                <a:spcPts val="1300"/>
              </a:spcAft>
              <a:buSzPct val="100000"/>
              <a:buFont typeface="+mj-lt"/>
              <a:buAutoNum type="arabicPeriod"/>
            </a:pPr>
            <a:r>
              <a:rPr lang="es-CL" noProof="0" dirty="0" err="1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s-CL" noProof="0" dirty="0">
              <a:solidFill>
                <a:schemeClr val="bg1">
                  <a:lumMod val="75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800100" lvl="1" indent="-342900">
              <a:spcAft>
                <a:spcPts val="1300"/>
              </a:spcAft>
              <a:buSzPct val="100000"/>
              <a:buFont typeface="+mj-lt"/>
              <a:buAutoNum type="arabicPeriod"/>
            </a:pPr>
            <a:r>
              <a:rPr lang="es-CL" noProof="0" dirty="0" err="1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ReactGit</a:t>
            </a:r>
            <a:r>
              <a:rPr lang="es-CL" noProof="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GitHub</a:t>
            </a:r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s-CL" b="1" noProof="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Tecnologías:</a:t>
            </a:r>
          </a:p>
          <a:p>
            <a:pPr marL="800100" lvl="1" indent="-342900">
              <a:spcAft>
                <a:spcPts val="1300"/>
              </a:spcAft>
              <a:buSzPct val="100000"/>
              <a:buFont typeface="+mj-lt"/>
              <a:buAutoNum type="arabicPeriod"/>
            </a:pPr>
            <a:r>
              <a:rPr lang="es-CL" noProof="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</a:t>
            </a:r>
            <a:r>
              <a:rPr lang="es-CL" noProof="0" dirty="0" err="1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s-CL" noProof="0" dirty="0">
              <a:solidFill>
                <a:schemeClr val="bg1">
                  <a:lumMod val="75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800100" lvl="1" indent="-342900">
              <a:spcAft>
                <a:spcPts val="1300"/>
              </a:spcAft>
              <a:buSzPct val="100000"/>
              <a:buFont typeface="+mj-lt"/>
              <a:buAutoNum type="arabicPeriod"/>
            </a:pPr>
            <a:r>
              <a:rPr lang="es-CL" noProof="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</a:t>
            </a:r>
          </a:p>
          <a:p>
            <a:pPr marL="800100" lvl="1" indent="-342900">
              <a:spcAft>
                <a:spcPts val="1300"/>
              </a:spcAft>
              <a:buSzPct val="100000"/>
              <a:buFont typeface="+mj-lt"/>
              <a:buAutoNum type="arabicPeriod"/>
            </a:pPr>
            <a:r>
              <a:rPr lang="es-CL" noProof="0" dirty="0" err="1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r>
              <a:rPr lang="es-CL" noProof="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Web</a:t>
            </a:r>
          </a:p>
          <a:p>
            <a:pPr marL="800100" lvl="1" indent="-342900">
              <a:spcAft>
                <a:spcPts val="1300"/>
              </a:spcAft>
              <a:buSzPct val="100000"/>
              <a:buFont typeface="+mj-lt"/>
              <a:buAutoNum type="arabicPeriod"/>
            </a:pPr>
            <a:r>
              <a:rPr lang="es-CL" noProof="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Cliente-Servidor</a:t>
            </a:r>
            <a:endParaRPr lang="es-CL" noProof="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11" name="Image 1" descr="/tmp/u_method.png">
            <a:extLst>
              <a:ext uri="{FF2B5EF4-FFF2-40B4-BE49-F238E27FC236}">
                <a16:creationId xmlns:a16="http://schemas.microsoft.com/office/drawing/2014/main" id="{AE4ACFF9-3FCE-34AF-13CE-23167CB0B3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7656" y="3474720"/>
            <a:ext cx="640080" cy="640080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8F9C1517-4FFE-90F4-1F7F-6E5EB0B54310}"/>
              </a:ext>
            </a:extLst>
          </p:cNvPr>
          <p:cNvSpPr/>
          <p:nvPr/>
        </p:nvSpPr>
        <p:spPr>
          <a:xfrm>
            <a:off x="6629400" y="4160520"/>
            <a:ext cx="4736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250" i="1" noProof="0" dirty="0">
                <a:solidFill>
                  <a:srgbClr val="9A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 aquí tu diagrama o esquema de metodología</a:t>
            </a:r>
            <a:endParaRPr lang="es-CL" sz="1250" noProof="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E3B6A0EC-1469-D0D4-CD7C-6BB58B359C20}"/>
              </a:ext>
            </a:extLst>
          </p:cNvPr>
          <p:cNvSpPr/>
          <p:nvPr/>
        </p:nvSpPr>
        <p:spPr>
          <a:xfrm>
            <a:off x="64008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950" noProof="0" dirty="0">
                <a:solidFill>
                  <a:srgbClr val="30C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Ingeniería · Universidad Andrés Bello</a:t>
            </a:r>
            <a:endParaRPr lang="es-CL" sz="950" noProof="0" dirty="0">
              <a:solidFill>
                <a:srgbClr val="30C95F"/>
              </a:solidFill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051943B9-A882-6574-EA85-3EE1E4FA7F51}"/>
              </a:ext>
            </a:extLst>
          </p:cNvPr>
          <p:cNvSpPr/>
          <p:nvPr/>
        </p:nvSpPr>
        <p:spPr>
          <a:xfrm>
            <a:off x="11183112" y="641908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950" noProof="0" dirty="0">
                <a:solidFill>
                  <a:srgbClr val="30C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s-CL" sz="950" noProof="0" dirty="0">
              <a:solidFill>
                <a:srgbClr val="30C95F"/>
              </a:solidFill>
            </a:endParaRP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8B4B4513-7571-A411-67CF-3F24A3C58FF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6830" r="1369" b="39333"/>
          <a:stretch>
            <a:fillRect/>
          </a:stretch>
        </p:blipFill>
        <p:spPr>
          <a:xfrm>
            <a:off x="6495571" y="1108456"/>
            <a:ext cx="5053301" cy="2320544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D59F8A58-992B-7255-2894-A0B085B29F8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11" t="59599" r="16487" b="1"/>
          <a:stretch>
            <a:fillRect/>
          </a:stretch>
        </p:blipFill>
        <p:spPr>
          <a:xfrm>
            <a:off x="7291184" y="3300984"/>
            <a:ext cx="4257688" cy="2770632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048C8556-8952-D506-428D-4FBB1EEB39B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6079" t="5482" r="35127" b="74370"/>
          <a:stretch>
            <a:fillRect/>
          </a:stretch>
        </p:blipFill>
        <p:spPr>
          <a:xfrm>
            <a:off x="7517709" y="3474720"/>
            <a:ext cx="1475231" cy="1381760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643EF94C-963A-F27E-1E39-CB1B24E0CF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4467" y="269744"/>
            <a:ext cx="2038453" cy="86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5138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13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37160" cy="137160"/>
          </a:xfrm>
          <a:prstGeom prst="rect">
            <a:avLst/>
          </a:prstGeom>
          <a:solidFill>
            <a:srgbClr val="1ED760"/>
          </a:solidFill>
          <a:ln/>
        </p:spPr>
        <p:txBody>
          <a:bodyPr/>
          <a:lstStyle/>
          <a:p>
            <a:endParaRPr lang="es-CL" noProof="0" dirty="0">
              <a:solidFill>
                <a:srgbClr val="1ED76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896112" y="47548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300" b="1" kern="0" spc="250" noProof="0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04</a:t>
            </a:r>
            <a:endParaRPr lang="es-CL" sz="1300" noProof="0" dirty="0">
              <a:solidFill>
                <a:srgbClr val="1ED76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621792" y="786384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3000" b="1" noProof="0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s-CL" sz="3000" noProof="0" dirty="0">
              <a:solidFill>
                <a:srgbClr val="1ED760"/>
              </a:solidFill>
            </a:endParaRPr>
          </a:p>
        </p:txBody>
      </p:sp>
      <p:sp>
        <p:nvSpPr>
          <p:cNvPr id="10" name="Shape 6"/>
          <p:cNvSpPr/>
          <p:nvPr/>
        </p:nvSpPr>
        <p:spPr>
          <a:xfrm>
            <a:off x="7808884" y="1847088"/>
            <a:ext cx="4078316" cy="1691640"/>
          </a:xfrm>
          <a:prstGeom prst="roundRect">
            <a:avLst>
              <a:gd name="adj" fmla="val 4865"/>
            </a:avLst>
          </a:prstGeom>
          <a:solidFill>
            <a:srgbClr val="12273F"/>
          </a:solidFill>
          <a:ln/>
          <a:effectLst>
            <a:outerShdw blurRad="76200" dist="25400" dir="5400000" algn="bl" rotWithShape="0">
              <a:srgbClr val="0B1B2F">
                <a:alpha val="10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Text 7"/>
          <p:cNvSpPr/>
          <p:nvPr/>
        </p:nvSpPr>
        <p:spPr>
          <a:xfrm>
            <a:off x="8220364" y="2121408"/>
            <a:ext cx="33557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4000" b="1" noProof="0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0.9497</a:t>
            </a:r>
            <a:endParaRPr lang="es-CL" sz="4000" noProof="0" dirty="0">
              <a:solidFill>
                <a:srgbClr val="1ED760"/>
              </a:solidFill>
            </a:endParaRPr>
          </a:p>
        </p:txBody>
      </p:sp>
      <p:sp>
        <p:nvSpPr>
          <p:cNvPr id="12" name="Text 8"/>
          <p:cNvSpPr/>
          <p:nvPr/>
        </p:nvSpPr>
        <p:spPr>
          <a:xfrm>
            <a:off x="8220364" y="2807208"/>
            <a:ext cx="33557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MX" sz="1350" noProof="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95 % de la variabilidad del precio explicada por el modelo</a:t>
            </a:r>
            <a:endParaRPr lang="es-CL" sz="1350" noProof="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3" name="Shape 9"/>
          <p:cNvSpPr/>
          <p:nvPr/>
        </p:nvSpPr>
        <p:spPr>
          <a:xfrm>
            <a:off x="7808884" y="3904488"/>
            <a:ext cx="4078316" cy="1691640"/>
          </a:xfrm>
          <a:prstGeom prst="roundRect">
            <a:avLst>
              <a:gd name="adj" fmla="val 4865"/>
            </a:avLst>
          </a:prstGeom>
          <a:solidFill>
            <a:srgbClr val="12273F"/>
          </a:solidFill>
          <a:ln/>
          <a:effectLst>
            <a:outerShdw blurRad="76200" dist="25400" dir="5400000" algn="bl" rotWithShape="0">
              <a:srgbClr val="0B1B2F">
                <a:alpha val="10000"/>
              </a:srgbClr>
            </a:outerShdw>
          </a:effectLst>
        </p:spPr>
        <p:txBody>
          <a:bodyPr/>
          <a:lstStyle/>
          <a:p>
            <a:endParaRPr lang="es-CL" noProof="0" dirty="0">
              <a:solidFill>
                <a:srgbClr val="1ED760"/>
              </a:solidFill>
            </a:endParaRPr>
          </a:p>
        </p:txBody>
      </p:sp>
      <p:sp>
        <p:nvSpPr>
          <p:cNvPr id="14" name="Text 10"/>
          <p:cNvSpPr/>
          <p:nvPr/>
        </p:nvSpPr>
        <p:spPr>
          <a:xfrm>
            <a:off x="8170152" y="4178808"/>
            <a:ext cx="33557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4000" b="1" noProof="0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= 0.1017</a:t>
            </a:r>
            <a:endParaRPr lang="es-CL" sz="4000" noProof="0" dirty="0">
              <a:solidFill>
                <a:srgbClr val="1ED760"/>
              </a:solidFill>
            </a:endParaRPr>
          </a:p>
        </p:txBody>
      </p:sp>
      <p:sp>
        <p:nvSpPr>
          <p:cNvPr id="15" name="Text 11"/>
          <p:cNvSpPr/>
          <p:nvPr/>
        </p:nvSpPr>
        <p:spPr>
          <a:xfrm>
            <a:off x="8220364" y="4864608"/>
            <a:ext cx="33557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MX" sz="1350" noProof="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error promedio entre las cinco técnicas evaluadas</a:t>
            </a:r>
            <a:endParaRPr lang="es-CL" sz="1350" noProof="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6" name="Text 12"/>
          <p:cNvSpPr/>
          <p:nvPr/>
        </p:nvSpPr>
        <p:spPr>
          <a:xfrm>
            <a:off x="64008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950" noProof="0" dirty="0">
                <a:solidFill>
                  <a:srgbClr val="30C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Ingeniería · Universidad Andrés Bello</a:t>
            </a:r>
            <a:endParaRPr lang="es-CL" sz="950" noProof="0" dirty="0">
              <a:solidFill>
                <a:srgbClr val="30C95F"/>
              </a:solidFill>
            </a:endParaRPr>
          </a:p>
        </p:txBody>
      </p:sp>
      <p:sp>
        <p:nvSpPr>
          <p:cNvPr id="17" name="Text 13"/>
          <p:cNvSpPr/>
          <p:nvPr/>
        </p:nvSpPr>
        <p:spPr>
          <a:xfrm>
            <a:off x="11183112" y="641908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950" noProof="0" dirty="0">
                <a:solidFill>
                  <a:srgbClr val="30C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s-CL" sz="950" noProof="0" dirty="0">
              <a:solidFill>
                <a:srgbClr val="30C95F"/>
              </a:solidFill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87B82DFD-DDA8-132C-F90D-B5B4A2FFA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122" y="2099318"/>
            <a:ext cx="7133706" cy="3313930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E6147ED0-D5EB-045B-8A35-962B332BB5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467" y="269744"/>
            <a:ext cx="2038453" cy="868687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3495BADB-7D6B-DE83-BED0-58100459F7DF}"/>
              </a:ext>
            </a:extLst>
          </p:cNvPr>
          <p:cNvSpPr/>
          <p:nvPr/>
        </p:nvSpPr>
        <p:spPr>
          <a:xfrm>
            <a:off x="7955280" y="1344168"/>
            <a:ext cx="40485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2800" b="1" noProof="0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Random Forest</a:t>
            </a:r>
            <a:endParaRPr lang="es-CL" sz="2800" noProof="0" dirty="0">
              <a:solidFill>
                <a:srgbClr val="1ED76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41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70F96E-F5E8-4DB3-3820-C99C3CC03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207F40F-7634-CA28-E052-30D90513B66C}"/>
              </a:ext>
            </a:extLst>
          </p:cNvPr>
          <p:cNvSpPr/>
          <p:nvPr/>
        </p:nvSpPr>
        <p:spPr>
          <a:xfrm>
            <a:off x="640080" y="566928"/>
            <a:ext cx="137160" cy="137160"/>
          </a:xfrm>
          <a:prstGeom prst="rect">
            <a:avLst/>
          </a:prstGeom>
          <a:solidFill>
            <a:srgbClr val="1ED760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EEB038C-1693-F1AE-E8BC-84B339C88FB1}"/>
              </a:ext>
            </a:extLst>
          </p:cNvPr>
          <p:cNvSpPr/>
          <p:nvPr/>
        </p:nvSpPr>
        <p:spPr>
          <a:xfrm>
            <a:off x="896112" y="47548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300" b="1" kern="0" spc="250" noProof="0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04</a:t>
            </a:r>
            <a:endParaRPr lang="es-CL" sz="1300" noProof="0" dirty="0">
              <a:solidFill>
                <a:srgbClr val="1ED760"/>
              </a:solidFill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0038340-4E80-7A5E-D271-4AEE7052A2AD}"/>
              </a:ext>
            </a:extLst>
          </p:cNvPr>
          <p:cNvSpPr/>
          <p:nvPr/>
        </p:nvSpPr>
        <p:spPr>
          <a:xfrm>
            <a:off x="621792" y="786384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3000" b="1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s-CL" sz="3000" b="1" noProof="0" dirty="0" err="1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mportancia</a:t>
            </a:r>
            <a:r>
              <a:rPr lang="es-CL" sz="3000" b="1" noProof="0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las Variables</a:t>
            </a:r>
            <a:endParaRPr lang="es-CL" sz="3000" noProof="0" dirty="0">
              <a:solidFill>
                <a:srgbClr val="1ED760"/>
              </a:solidFill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CECADED5-ABDC-73BB-0837-9BD06FA5A99C}"/>
              </a:ext>
            </a:extLst>
          </p:cNvPr>
          <p:cNvSpPr/>
          <p:nvPr/>
        </p:nvSpPr>
        <p:spPr>
          <a:xfrm>
            <a:off x="7639291" y="1138431"/>
            <a:ext cx="4247909" cy="5244081"/>
          </a:xfrm>
          <a:prstGeom prst="roundRect">
            <a:avLst>
              <a:gd name="adj" fmla="val 4865"/>
            </a:avLst>
          </a:prstGeom>
          <a:solidFill>
            <a:srgbClr val="12273F"/>
          </a:solidFill>
          <a:ln/>
          <a:effectLst>
            <a:outerShdw blurRad="76200" dist="25400" dir="5400000" algn="bl" rotWithShape="0">
              <a:srgbClr val="0B1B2F">
                <a:alpha val="10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8960145C-87CA-7D53-B216-FD90CACDB144}"/>
              </a:ext>
            </a:extLst>
          </p:cNvPr>
          <p:cNvSpPr/>
          <p:nvPr/>
        </p:nvSpPr>
        <p:spPr>
          <a:xfrm>
            <a:off x="7955280" y="1157008"/>
            <a:ext cx="34433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2400" b="1" noProof="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</a:t>
            </a:r>
            <a:endParaRPr lang="es-CL" sz="2400" noProof="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8C5495DE-1AE4-65DD-B394-769B0AEDEE3E}"/>
              </a:ext>
            </a:extLst>
          </p:cNvPr>
          <p:cNvSpPr/>
          <p:nvPr/>
        </p:nvSpPr>
        <p:spPr>
          <a:xfrm>
            <a:off x="64008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950" noProof="0" dirty="0">
                <a:solidFill>
                  <a:srgbClr val="30C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Ingeniería · Universidad Andrés Bello</a:t>
            </a:r>
            <a:endParaRPr lang="es-CL" sz="950" noProof="0" dirty="0">
              <a:solidFill>
                <a:srgbClr val="30C95F"/>
              </a:solidFill>
            </a:endParaRP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7AFD2253-C09D-2539-2C57-B8237B18F46C}"/>
              </a:ext>
            </a:extLst>
          </p:cNvPr>
          <p:cNvSpPr/>
          <p:nvPr/>
        </p:nvSpPr>
        <p:spPr>
          <a:xfrm>
            <a:off x="11183112" y="641908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950" noProof="0" dirty="0">
                <a:solidFill>
                  <a:srgbClr val="30C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s-CL" sz="950" noProof="0" dirty="0">
              <a:solidFill>
                <a:srgbClr val="30C95F"/>
              </a:solidFill>
            </a:endParaRP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1AC80490-3A69-B133-1425-8CAB5C0DEA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422"/>
          <a:stretch>
            <a:fillRect/>
          </a:stretch>
        </p:blipFill>
        <p:spPr>
          <a:xfrm>
            <a:off x="182628" y="2103120"/>
            <a:ext cx="7315200" cy="3330755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5CF9240B-EEDB-C164-BEDD-A339BDC824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2325" r="89163"/>
          <a:stretch>
            <a:fillRect/>
          </a:stretch>
        </p:blipFill>
        <p:spPr>
          <a:xfrm>
            <a:off x="6684776" y="4257241"/>
            <a:ext cx="792732" cy="721667"/>
          </a:xfrm>
          <a:prstGeom prst="rect">
            <a:avLst/>
          </a:prstGeom>
        </p:spPr>
      </p:pic>
      <p:sp>
        <p:nvSpPr>
          <p:cNvPr id="22" name="CuadroTexto 21">
            <a:extLst>
              <a:ext uri="{FF2B5EF4-FFF2-40B4-BE49-F238E27FC236}">
                <a16:creationId xmlns:a16="http://schemas.microsoft.com/office/drawing/2014/main" id="{72D99803-41DD-3105-2467-42A4F84660E8}"/>
              </a:ext>
            </a:extLst>
          </p:cNvPr>
          <p:cNvSpPr txBox="1"/>
          <p:nvPr/>
        </p:nvSpPr>
        <p:spPr>
          <a:xfrm>
            <a:off x="7779657" y="1812167"/>
            <a:ext cx="410754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800" dirty="0">
                <a:solidFill>
                  <a:srgbClr val="1ED760"/>
                </a:solidFill>
              </a:rPr>
              <a:t>El modelo específico del vehículo es el factor dominante.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MX" sz="2800" dirty="0">
              <a:solidFill>
                <a:srgbClr val="1ED76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800" dirty="0">
                <a:solidFill>
                  <a:srgbClr val="1ED760"/>
                </a:solidFill>
              </a:rPr>
              <a:t>La antigüedad explica gran parte del precio.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MX" sz="2800" dirty="0">
              <a:solidFill>
                <a:srgbClr val="1ED76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800" dirty="0">
                <a:solidFill>
                  <a:srgbClr val="1ED760"/>
                </a:solidFill>
              </a:rPr>
              <a:t>El kilometraje influye, pero menos de lo esperado.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45DE535A-22AA-C1CF-D421-0CDF929275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467" y="269744"/>
            <a:ext cx="2038453" cy="86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096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13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37160" cy="137160"/>
          </a:xfrm>
          <a:prstGeom prst="rect">
            <a:avLst/>
          </a:prstGeom>
          <a:solidFill>
            <a:srgbClr val="1ED760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896112" y="47548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300" b="1" kern="0" spc="250" noProof="0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05</a:t>
            </a:r>
            <a:endParaRPr lang="es-CL" sz="1300" noProof="0" dirty="0">
              <a:solidFill>
                <a:srgbClr val="1ED76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621792" y="786384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3000" b="1" noProof="0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la Solución</a:t>
            </a:r>
            <a:endParaRPr lang="es-CL" sz="3000" noProof="0" dirty="0">
              <a:solidFill>
                <a:srgbClr val="1ED760"/>
              </a:solidFill>
            </a:endParaRPr>
          </a:p>
        </p:txBody>
      </p:sp>
      <p:pic>
        <p:nvPicPr>
          <p:cNvPr id="5" name="Image 0" descr="/tmp/unab_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3473" y="548640"/>
            <a:ext cx="1165399" cy="4206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2103120"/>
            <a:ext cx="5486400" cy="3749040"/>
          </a:xfrm>
          <a:prstGeom prst="roundRect">
            <a:avLst>
              <a:gd name="adj" fmla="val 2195"/>
            </a:avLst>
          </a:prstGeom>
          <a:solidFill>
            <a:srgbClr val="FBFCFD"/>
          </a:solidFill>
          <a:ln w="19050">
            <a:solidFill>
              <a:srgbClr val="DCE3EC"/>
            </a:solidFill>
            <a:prstDash val="dash"/>
          </a:ln>
        </p:spPr>
        <p:txBody>
          <a:bodyPr/>
          <a:lstStyle/>
          <a:p>
            <a:endParaRPr lang="es-CL" noProof="0" dirty="0"/>
          </a:p>
        </p:txBody>
      </p:sp>
      <p:pic>
        <p:nvPicPr>
          <p:cNvPr id="8" name="Image 1" descr="/tmp/u_im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3240" y="3474720"/>
            <a:ext cx="640080" cy="640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41605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250" i="1" noProof="0" dirty="0">
                <a:solidFill>
                  <a:srgbClr val="9A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 una captura, foto o esquema de tu solución</a:t>
            </a:r>
            <a:endParaRPr lang="es-CL" sz="1250" noProof="0" dirty="0"/>
          </a:p>
        </p:txBody>
      </p:sp>
      <p:sp>
        <p:nvSpPr>
          <p:cNvPr id="10" name="Shape 6"/>
          <p:cNvSpPr/>
          <p:nvPr/>
        </p:nvSpPr>
        <p:spPr>
          <a:xfrm>
            <a:off x="6446520" y="1325880"/>
            <a:ext cx="5102352" cy="4924041"/>
          </a:xfrm>
          <a:prstGeom prst="roundRect">
            <a:avLst>
              <a:gd name="adj" fmla="val 2195"/>
            </a:avLst>
          </a:prstGeom>
          <a:solidFill>
            <a:srgbClr val="282827"/>
          </a:solidFill>
          <a:ln/>
          <a:effectLst>
            <a:outerShdw blurRad="76200" dist="25400" dir="5400000" algn="bl" rotWithShape="0">
              <a:srgbClr val="0B1B2F">
                <a:alpha val="10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Text 7"/>
          <p:cNvSpPr/>
          <p:nvPr/>
        </p:nvSpPr>
        <p:spPr>
          <a:xfrm>
            <a:off x="6528816" y="932688"/>
            <a:ext cx="4279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600" b="1" noProof="0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 la solución</a:t>
            </a:r>
            <a:endParaRPr lang="es-CL" sz="1600" noProof="0" dirty="0">
              <a:solidFill>
                <a:srgbClr val="1ED760"/>
              </a:solidFill>
            </a:endParaRPr>
          </a:p>
        </p:txBody>
      </p:sp>
      <p:sp>
        <p:nvSpPr>
          <p:cNvPr id="12" name="Text 8"/>
          <p:cNvSpPr/>
          <p:nvPr/>
        </p:nvSpPr>
        <p:spPr>
          <a:xfrm>
            <a:off x="6686780" y="1444752"/>
            <a:ext cx="47940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CL" sz="1700" b="1" dirty="0">
                <a:solidFill>
                  <a:srgbClr val="1ED760"/>
                </a:solidFill>
              </a:rPr>
              <a:t>¿Qué hace y cómo funciona?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CL" sz="1700" dirty="0">
                <a:solidFill>
                  <a:srgbClr val="1ED760"/>
                </a:solidFill>
              </a:rPr>
              <a:t>Procesa los datos ingresados por el usuario y genera una predicción en tiempo real. </a:t>
            </a:r>
          </a:p>
          <a:p>
            <a:endParaRPr lang="es-CL" sz="1700" b="1" dirty="0">
              <a:solidFill>
                <a:srgbClr val="1ED760"/>
              </a:solidFill>
            </a:endParaRPr>
          </a:p>
          <a:p>
            <a:r>
              <a:rPr lang="es-CL" sz="1700" b="1" dirty="0">
                <a:solidFill>
                  <a:srgbClr val="1ED760"/>
                </a:solidFill>
              </a:rPr>
              <a:t>Componentes principales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CL" sz="1700" dirty="0" err="1">
                <a:solidFill>
                  <a:srgbClr val="1ED760"/>
                </a:solidFill>
              </a:rPr>
              <a:t>Frontend</a:t>
            </a:r>
            <a:r>
              <a:rPr lang="es-CL" sz="1700" dirty="0">
                <a:solidFill>
                  <a:srgbClr val="1ED760"/>
                </a:solidFill>
              </a:rPr>
              <a:t> desarrollado en </a:t>
            </a:r>
            <a:r>
              <a:rPr lang="es-CL" sz="1700" dirty="0" err="1">
                <a:solidFill>
                  <a:srgbClr val="1ED760"/>
                </a:solidFill>
              </a:rPr>
              <a:t>React</a:t>
            </a:r>
            <a:r>
              <a:rPr lang="es-CL" sz="1700" dirty="0">
                <a:solidFill>
                  <a:srgbClr val="1ED760"/>
                </a:solidFill>
              </a:rPr>
              <a:t>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CL" sz="1700" dirty="0" err="1">
                <a:solidFill>
                  <a:srgbClr val="1ED760"/>
                </a:solidFill>
              </a:rPr>
              <a:t>Backend</a:t>
            </a:r>
            <a:r>
              <a:rPr lang="es-CL" sz="1700" dirty="0">
                <a:solidFill>
                  <a:srgbClr val="1ED760"/>
                </a:solidFill>
              </a:rPr>
              <a:t> REST desarrollado con </a:t>
            </a:r>
            <a:r>
              <a:rPr lang="es-CL" sz="1700" dirty="0" err="1">
                <a:solidFill>
                  <a:srgbClr val="1ED760"/>
                </a:solidFill>
              </a:rPr>
              <a:t>FastAPI</a:t>
            </a:r>
            <a:r>
              <a:rPr lang="es-CL" sz="1700" dirty="0">
                <a:solidFill>
                  <a:srgbClr val="1ED760"/>
                </a:solidFill>
              </a:rPr>
              <a:t>. </a:t>
            </a:r>
          </a:p>
          <a:p>
            <a:endParaRPr lang="es-CL" sz="1700" b="1" dirty="0">
              <a:solidFill>
                <a:srgbClr val="1ED760"/>
              </a:solidFill>
            </a:endParaRPr>
          </a:p>
          <a:p>
            <a:r>
              <a:rPr lang="es-CL" sz="1700" b="1" dirty="0">
                <a:solidFill>
                  <a:srgbClr val="1ED760"/>
                </a:solidFill>
              </a:rPr>
              <a:t>Decisión técnica relevante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CL" sz="1700" dirty="0">
                <a:solidFill>
                  <a:srgbClr val="1ED760"/>
                </a:solidFill>
              </a:rPr>
              <a:t> Random Forest tiene el mejor desempeño predictivo con un R² de 0,9497. </a:t>
            </a:r>
          </a:p>
          <a:p>
            <a:endParaRPr lang="es-CL" sz="1700" b="1" dirty="0">
              <a:solidFill>
                <a:srgbClr val="1ED760"/>
              </a:solidFill>
            </a:endParaRPr>
          </a:p>
          <a:p>
            <a:r>
              <a:rPr lang="es-CL" sz="1700" b="1" dirty="0">
                <a:solidFill>
                  <a:srgbClr val="1ED760"/>
                </a:solidFill>
              </a:rPr>
              <a:t>Dificultades y solución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CL" sz="1700" dirty="0">
                <a:solidFill>
                  <a:srgbClr val="1ED760"/>
                </a:solidFill>
              </a:rPr>
              <a:t>Mantener la consistencia entre entrenamiento e inferencia.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CL" sz="1700" dirty="0">
                <a:solidFill>
                  <a:srgbClr val="1ED760"/>
                </a:solidFill>
              </a:rPr>
              <a:t>Se recuperaron y reutilizaron artefactos del pipeline: codificaciones, escaladores y parámetros de transformación.</a:t>
            </a:r>
          </a:p>
          <a:p>
            <a:pPr marL="0" indent="0">
              <a:spcAft>
                <a:spcPts val="1300"/>
              </a:spcAft>
              <a:buNone/>
            </a:pPr>
            <a:endParaRPr lang="es-CL" sz="1450" noProof="0" dirty="0"/>
          </a:p>
        </p:txBody>
      </p:sp>
      <p:sp>
        <p:nvSpPr>
          <p:cNvPr id="13" name="Text 9"/>
          <p:cNvSpPr/>
          <p:nvPr/>
        </p:nvSpPr>
        <p:spPr>
          <a:xfrm>
            <a:off x="64008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950" noProof="0" dirty="0">
                <a:solidFill>
                  <a:srgbClr val="30C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Ingeniería · Universidad Andrés Bello</a:t>
            </a:r>
            <a:endParaRPr lang="es-CL" sz="950" noProof="0" dirty="0">
              <a:solidFill>
                <a:srgbClr val="30C95F"/>
              </a:solidFill>
            </a:endParaRPr>
          </a:p>
        </p:txBody>
      </p:sp>
      <p:sp>
        <p:nvSpPr>
          <p:cNvPr id="14" name="Text 10"/>
          <p:cNvSpPr/>
          <p:nvPr/>
        </p:nvSpPr>
        <p:spPr>
          <a:xfrm>
            <a:off x="11183112" y="641908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950" noProof="0" dirty="0">
                <a:solidFill>
                  <a:srgbClr val="30C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s-CL" sz="950" noProof="0" dirty="0">
              <a:solidFill>
                <a:srgbClr val="30C95F"/>
              </a:solidFill>
            </a:endParaRP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77056965-C099-8409-EC71-03ED070CB22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5435" t="3091" r="26130"/>
          <a:stretch>
            <a:fillRect/>
          </a:stretch>
        </p:blipFill>
        <p:spPr>
          <a:xfrm>
            <a:off x="640080" y="1362456"/>
            <a:ext cx="5486400" cy="4860562"/>
          </a:xfrm>
          <a:prstGeom prst="roundRect">
            <a:avLst>
              <a:gd name="adj" fmla="val 558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11DD0080-4F09-2F9C-37B3-74E3960105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94467" y="269744"/>
            <a:ext cx="2038453" cy="86868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13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37160" cy="137160"/>
          </a:xfrm>
          <a:prstGeom prst="rect">
            <a:avLst/>
          </a:prstGeom>
          <a:solidFill>
            <a:srgbClr val="1ED760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896112" y="47548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300" b="1" kern="0" spc="250" noProof="0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06</a:t>
            </a:r>
            <a:endParaRPr lang="es-CL" sz="1300" noProof="0" dirty="0">
              <a:solidFill>
                <a:srgbClr val="1ED76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621792" y="786384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3000" b="1" noProof="0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s-CL" sz="3000" noProof="0" dirty="0">
              <a:solidFill>
                <a:srgbClr val="1ED760"/>
              </a:solidFill>
            </a:endParaRPr>
          </a:p>
        </p:txBody>
      </p:sp>
      <p:sp>
        <p:nvSpPr>
          <p:cNvPr id="7" name="Shape 4"/>
          <p:cNvSpPr/>
          <p:nvPr/>
        </p:nvSpPr>
        <p:spPr>
          <a:xfrm>
            <a:off x="594360" y="1316736"/>
            <a:ext cx="6766560" cy="4754880"/>
          </a:xfrm>
          <a:prstGeom prst="roundRect">
            <a:avLst>
              <a:gd name="adj" fmla="val 2195"/>
            </a:avLst>
          </a:prstGeom>
          <a:solidFill>
            <a:srgbClr val="9D968E"/>
          </a:solidFill>
          <a:ln/>
          <a:effectLst>
            <a:outerShdw blurRad="76200" dist="25400" dir="5400000" algn="bl" rotWithShape="0">
              <a:srgbClr val="0B1B2F">
                <a:alpha val="10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9" name="Text 6"/>
          <p:cNvSpPr/>
          <p:nvPr/>
        </p:nvSpPr>
        <p:spPr>
          <a:xfrm>
            <a:off x="777240" y="1510284"/>
            <a:ext cx="6337808" cy="4250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None/>
            </a:pPr>
            <a:r>
              <a:rPr lang="es-CL" b="1" dirty="0">
                <a:solidFill>
                  <a:srgbClr val="144727"/>
                </a:solidFill>
              </a:rPr>
              <a:t>Conclusión 1: Objetivo general cumplido</a:t>
            </a:r>
          </a:p>
          <a:p>
            <a:pPr lvl="1"/>
            <a:r>
              <a:rPr lang="es-CL" dirty="0">
                <a:solidFill>
                  <a:srgbClr val="144727"/>
                </a:solidFill>
              </a:rPr>
              <a:t>Se desarrolló exitosamente un sistema capaz de estimar el precio de vehículos usados a partir de sus características, alcanzando un desempeño superior al objetivo planteado inicialmente.</a:t>
            </a:r>
          </a:p>
          <a:p>
            <a:pPr lvl="1"/>
            <a:endParaRPr lang="es-CL" dirty="0">
              <a:solidFill>
                <a:srgbClr val="144727"/>
              </a:solidFill>
            </a:endParaRPr>
          </a:p>
          <a:p>
            <a:pPr>
              <a:buNone/>
            </a:pPr>
            <a:r>
              <a:rPr lang="es-CL" b="1" dirty="0">
                <a:solidFill>
                  <a:srgbClr val="144727"/>
                </a:solidFill>
              </a:rPr>
              <a:t>Conclusión 2: Hallazgo más relevante</a:t>
            </a:r>
          </a:p>
          <a:p>
            <a:pPr lvl="1"/>
            <a:r>
              <a:rPr lang="es-CL" dirty="0">
                <a:solidFill>
                  <a:srgbClr val="144727"/>
                </a:solidFill>
              </a:rPr>
              <a:t>La comparación de técnicas demostró que el problema presenta relaciones complejas y no lineales, donde Random Forest logró explicar aproximadamente el 95 % de la variabilidad de los precios.</a:t>
            </a:r>
          </a:p>
          <a:p>
            <a:pPr lvl="1"/>
            <a:endParaRPr lang="es-CL" dirty="0">
              <a:solidFill>
                <a:srgbClr val="144727"/>
              </a:solidFill>
            </a:endParaRPr>
          </a:p>
          <a:p>
            <a:pPr>
              <a:buNone/>
            </a:pPr>
            <a:r>
              <a:rPr lang="es-CL" b="1" dirty="0">
                <a:solidFill>
                  <a:srgbClr val="144727"/>
                </a:solidFill>
              </a:rPr>
              <a:t>Conclusión 3: Aprendizaje del proyecto</a:t>
            </a:r>
          </a:p>
          <a:p>
            <a:pPr lvl="1"/>
            <a:r>
              <a:rPr lang="es-CL" dirty="0">
                <a:solidFill>
                  <a:srgbClr val="144727"/>
                </a:solidFill>
              </a:rPr>
              <a:t>La calidad y preparación de los datos tuvieron un impacto tan importante como la selección del algoritmo, destacando la importancia de un pipeline reproducible y bien documentado.</a:t>
            </a:r>
          </a:p>
        </p:txBody>
      </p:sp>
      <p:sp>
        <p:nvSpPr>
          <p:cNvPr id="10" name="Shape 7"/>
          <p:cNvSpPr/>
          <p:nvPr/>
        </p:nvSpPr>
        <p:spPr>
          <a:xfrm>
            <a:off x="7726680" y="1316735"/>
            <a:ext cx="3822192" cy="4716841"/>
          </a:xfrm>
          <a:prstGeom prst="roundRect">
            <a:avLst>
              <a:gd name="adj" fmla="val 2439"/>
            </a:avLst>
          </a:prstGeom>
          <a:solidFill>
            <a:srgbClr val="12273F"/>
          </a:solidFill>
          <a:ln/>
          <a:effectLst>
            <a:outerShdw blurRad="76200" dist="25400" dir="5400000" algn="bl" rotWithShape="0">
              <a:srgbClr val="0B1B2F">
                <a:alpha val="10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pic>
        <p:nvPicPr>
          <p:cNvPr id="11" name="Image 1" descr="/tmp/u_bulb.png"/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914640" y="1461008"/>
            <a:ext cx="325120" cy="3251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80400" y="1436624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2400" b="1" noProof="0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futuro</a:t>
            </a:r>
            <a:endParaRPr lang="es-CL" sz="2400" noProof="0" dirty="0">
              <a:solidFill>
                <a:srgbClr val="1ED760"/>
              </a:solidFill>
            </a:endParaRPr>
          </a:p>
        </p:txBody>
      </p:sp>
      <p:sp>
        <p:nvSpPr>
          <p:cNvPr id="13" name="Text 9"/>
          <p:cNvSpPr/>
          <p:nvPr/>
        </p:nvSpPr>
        <p:spPr>
          <a:xfrm>
            <a:off x="7966940" y="1898904"/>
            <a:ext cx="3328948" cy="3760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s-MX" sz="1600" noProof="0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Incorporar datos del mercado chileno para aumentar la representatividad de las predicciones. 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s-MX" sz="1600" noProof="0" dirty="0">
              <a:solidFill>
                <a:srgbClr val="1ED76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s-MX" sz="1600" noProof="0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Incorporar variables adicionales mediante procesamiento de lenguaje natural sobre descripciones de anuncios.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s-MX" sz="1600" noProof="0" dirty="0">
              <a:solidFill>
                <a:srgbClr val="1ED76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s-MX" sz="1600" noProof="0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reentrenamiento periódico para adaptarse a cambios del mercado automotriz.</a:t>
            </a:r>
            <a:endParaRPr lang="es-CL" sz="1600" noProof="0" dirty="0">
              <a:solidFill>
                <a:srgbClr val="1ED760"/>
              </a:solidFill>
            </a:endParaRPr>
          </a:p>
        </p:txBody>
      </p:sp>
      <p:sp>
        <p:nvSpPr>
          <p:cNvPr id="14" name="Text 10"/>
          <p:cNvSpPr/>
          <p:nvPr/>
        </p:nvSpPr>
        <p:spPr>
          <a:xfrm>
            <a:off x="64008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950" noProof="0" dirty="0">
                <a:solidFill>
                  <a:srgbClr val="30C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Ingeniería · Universidad Andrés Bello</a:t>
            </a:r>
            <a:endParaRPr lang="es-CL" sz="950" noProof="0" dirty="0">
              <a:solidFill>
                <a:srgbClr val="30C95F"/>
              </a:solidFill>
            </a:endParaRPr>
          </a:p>
        </p:txBody>
      </p:sp>
      <p:sp>
        <p:nvSpPr>
          <p:cNvPr id="15" name="Text 11"/>
          <p:cNvSpPr/>
          <p:nvPr/>
        </p:nvSpPr>
        <p:spPr>
          <a:xfrm>
            <a:off x="11183112" y="641908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950" noProof="0" dirty="0">
                <a:solidFill>
                  <a:srgbClr val="30C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s-CL" sz="950" noProof="0" dirty="0">
              <a:solidFill>
                <a:srgbClr val="30C95F"/>
              </a:solidFill>
            </a:endParaRP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E1BFB46E-EC79-035C-4D8C-93E5E807BE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467" y="269744"/>
            <a:ext cx="2038453" cy="86868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D968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C89A17-45CC-F4B0-5D19-625E0F26F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9902838-84E0-2DB6-AC74-1E43ABB86E45}"/>
              </a:ext>
            </a:extLst>
          </p:cNvPr>
          <p:cNvSpPr/>
          <p:nvPr/>
        </p:nvSpPr>
        <p:spPr>
          <a:xfrm>
            <a:off x="9052560" y="-1554480"/>
            <a:ext cx="5120640" cy="5120640"/>
          </a:xfrm>
          <a:prstGeom prst="ellipse">
            <a:avLst/>
          </a:prstGeom>
          <a:ln w="19050">
            <a:solidFill>
              <a:srgbClr val="008000">
                <a:alpha val="17255"/>
              </a:srgbClr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F2EB460-37A8-51CA-79F5-407239A282AE}"/>
              </a:ext>
            </a:extLst>
          </p:cNvPr>
          <p:cNvSpPr/>
          <p:nvPr/>
        </p:nvSpPr>
        <p:spPr>
          <a:xfrm>
            <a:off x="10241280" y="4206240"/>
            <a:ext cx="3291840" cy="3291840"/>
          </a:xfrm>
          <a:prstGeom prst="ellipse">
            <a:avLst/>
          </a:prstGeom>
          <a:ln w="19050">
            <a:solidFill>
              <a:srgbClr val="169C46">
                <a:alpha val="44706"/>
              </a:srgbClr>
            </a:solidFill>
            <a:prstDash val="solid"/>
          </a:ln>
        </p:spPr>
        <p:txBody>
          <a:bodyPr/>
          <a:lstStyle/>
          <a:p>
            <a:endParaRPr lang="es-CL" noProof="0" dirty="0">
              <a:latin typeface="Congenial" panose="02000503040000020004" pitchFamily="2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EFCD9DFC-1588-1F1D-4DE8-03FA4BC1D3B7}"/>
              </a:ext>
            </a:extLst>
          </p:cNvPr>
          <p:cNvSpPr/>
          <p:nvPr/>
        </p:nvSpPr>
        <p:spPr>
          <a:xfrm>
            <a:off x="382705" y="5473835"/>
            <a:ext cx="102073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s-CL" sz="8000" b="1" noProof="0" dirty="0">
                <a:solidFill>
                  <a:srgbClr val="131313"/>
                </a:solidFill>
                <a:latin typeface="Congenial" panose="02000503040000020004" pitchFamily="2" charset="0"/>
                <a:ea typeface="Calibri" pitchFamily="34" charset="-122"/>
                <a:cs typeface="Calibri" pitchFamily="34" charset="-120"/>
              </a:rPr>
              <a:t>Choque de Realidad</a:t>
            </a:r>
            <a:endParaRPr lang="es-CL" sz="8000" noProof="0" dirty="0">
              <a:solidFill>
                <a:srgbClr val="131313"/>
              </a:solidFill>
              <a:latin typeface="Congenial" panose="02000503040000020004" pitchFamily="2" charset="0"/>
            </a:endParaRPr>
          </a:p>
        </p:txBody>
      </p:sp>
      <p:grpSp>
        <p:nvGrpSpPr>
          <p:cNvPr id="29" name="Grupo 28">
            <a:extLst>
              <a:ext uri="{FF2B5EF4-FFF2-40B4-BE49-F238E27FC236}">
                <a16:creationId xmlns:a16="http://schemas.microsoft.com/office/drawing/2014/main" id="{138403E4-49F7-9BEF-06DD-34896AC3AAE5}"/>
              </a:ext>
            </a:extLst>
          </p:cNvPr>
          <p:cNvGrpSpPr/>
          <p:nvPr/>
        </p:nvGrpSpPr>
        <p:grpSpPr>
          <a:xfrm>
            <a:off x="457201" y="3290232"/>
            <a:ext cx="7259320" cy="1925320"/>
            <a:chOff x="548640" y="3428865"/>
            <a:chExt cx="7259320" cy="1925320"/>
          </a:xfrm>
        </p:grpSpPr>
        <p:sp>
          <p:nvSpPr>
            <p:cNvPr id="9" name="Shape 6">
              <a:extLst>
                <a:ext uri="{FF2B5EF4-FFF2-40B4-BE49-F238E27FC236}">
                  <a16:creationId xmlns:a16="http://schemas.microsoft.com/office/drawing/2014/main" id="{5D7698C4-B2BC-716D-0889-EDBA8FF50B63}"/>
                </a:ext>
              </a:extLst>
            </p:cNvPr>
            <p:cNvSpPr/>
            <p:nvPr/>
          </p:nvSpPr>
          <p:spPr>
            <a:xfrm>
              <a:off x="548640" y="3428865"/>
              <a:ext cx="7259320" cy="1925320"/>
            </a:xfrm>
            <a:prstGeom prst="roundRect">
              <a:avLst>
                <a:gd name="adj" fmla="val 6452"/>
              </a:avLst>
            </a:prstGeom>
            <a:solidFill>
              <a:srgbClr val="FFFFFF">
                <a:alpha val="10000"/>
              </a:srgbClr>
            </a:solidFill>
            <a:ln w="9525">
              <a:solidFill>
                <a:srgbClr val="FFFFFF">
                  <a:alpha val="30000"/>
                </a:srgbClr>
              </a:solidFill>
              <a:prstDash val="solid"/>
            </a:ln>
          </p:spPr>
          <p:txBody>
            <a:bodyPr/>
            <a:lstStyle/>
            <a:p>
              <a:endParaRPr lang="es-CL" noProof="0" dirty="0">
                <a:latin typeface="Congenial" panose="02000503040000020004" pitchFamily="2" charset="0"/>
              </a:endParaRPr>
            </a:p>
          </p:txBody>
        </p:sp>
        <p:sp>
          <p:nvSpPr>
            <p:cNvPr id="10" name="Text 7">
              <a:extLst>
                <a:ext uri="{FF2B5EF4-FFF2-40B4-BE49-F238E27FC236}">
                  <a16:creationId xmlns:a16="http://schemas.microsoft.com/office/drawing/2014/main" id="{FD162E26-B2A6-8DA8-0E87-0E5E3D2EAF52}"/>
                </a:ext>
              </a:extLst>
            </p:cNvPr>
            <p:cNvSpPr/>
            <p:nvPr/>
          </p:nvSpPr>
          <p:spPr>
            <a:xfrm>
              <a:off x="914399" y="3638018"/>
              <a:ext cx="3152073" cy="3229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s-CL" sz="1200" b="1" kern="0" spc="150" noProof="0" dirty="0">
                  <a:solidFill>
                    <a:srgbClr val="003300"/>
                  </a:solidFill>
                  <a:latin typeface="Congenial" panose="02000503040000020004" pitchFamily="2" charset="0"/>
                  <a:ea typeface="Calibri" pitchFamily="34" charset="-122"/>
                  <a:cs typeface="Calibri" pitchFamily="34" charset="-120"/>
                </a:rPr>
                <a:t>AUTOR</a:t>
              </a:r>
              <a:endParaRPr lang="es-CL" sz="1200" noProof="0" dirty="0">
                <a:solidFill>
                  <a:srgbClr val="003300"/>
                </a:solidFill>
                <a:latin typeface="Congenial" panose="02000503040000020004" pitchFamily="2" charset="0"/>
              </a:endParaRPr>
            </a:p>
          </p:txBody>
        </p:sp>
        <p:sp>
          <p:nvSpPr>
            <p:cNvPr id="11" name="Text 8">
              <a:extLst>
                <a:ext uri="{FF2B5EF4-FFF2-40B4-BE49-F238E27FC236}">
                  <a16:creationId xmlns:a16="http://schemas.microsoft.com/office/drawing/2014/main" id="{5D1052BF-7D7D-DC71-E2D9-A57695B88764}"/>
                </a:ext>
              </a:extLst>
            </p:cNvPr>
            <p:cNvSpPr/>
            <p:nvPr/>
          </p:nvSpPr>
          <p:spPr>
            <a:xfrm>
              <a:off x="914399" y="3880249"/>
              <a:ext cx="3152073" cy="37264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s-CL" noProof="0" dirty="0">
                  <a:solidFill>
                    <a:srgbClr val="131313"/>
                  </a:solidFill>
                  <a:latin typeface="Book Antiqua" panose="02040602050305030304" pitchFamily="18" charset="0"/>
                  <a:ea typeface="Calibri" pitchFamily="34" charset="-122"/>
                  <a:cs typeface="Calibri" pitchFamily="34" charset="-120"/>
                </a:rPr>
                <a:t>Celso Farías</a:t>
              </a:r>
              <a:endParaRPr lang="es-CL" noProof="0" dirty="0">
                <a:solidFill>
                  <a:srgbClr val="131313"/>
                </a:solidFill>
                <a:latin typeface="Book Antiqua" panose="02040602050305030304" pitchFamily="18" charset="0"/>
              </a:endParaRPr>
            </a:p>
          </p:txBody>
        </p:sp>
        <p:sp>
          <p:nvSpPr>
            <p:cNvPr id="12" name="Text 9">
              <a:extLst>
                <a:ext uri="{FF2B5EF4-FFF2-40B4-BE49-F238E27FC236}">
                  <a16:creationId xmlns:a16="http://schemas.microsoft.com/office/drawing/2014/main" id="{9B8EF6C0-9C6E-42A4-0BCC-BD461A4EB1C1}"/>
                </a:ext>
              </a:extLst>
            </p:cNvPr>
            <p:cNvSpPr/>
            <p:nvPr/>
          </p:nvSpPr>
          <p:spPr>
            <a:xfrm>
              <a:off x="4206239" y="3638018"/>
              <a:ext cx="3152073" cy="3229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s-CL" sz="1200" b="1" kern="0" spc="150" noProof="0" dirty="0">
                  <a:solidFill>
                    <a:srgbClr val="003300"/>
                  </a:solidFill>
                  <a:latin typeface="Congenial" panose="02000503040000020004" pitchFamily="2" charset="0"/>
                  <a:ea typeface="Calibri" pitchFamily="34" charset="-122"/>
                  <a:cs typeface="Calibri" pitchFamily="34" charset="-120"/>
                </a:rPr>
                <a:t>DOCENTE</a:t>
              </a:r>
              <a:endParaRPr lang="es-CL" sz="1200" noProof="0" dirty="0">
                <a:solidFill>
                  <a:srgbClr val="003300"/>
                </a:solidFill>
                <a:latin typeface="Congenial" panose="02000503040000020004" pitchFamily="2" charset="0"/>
              </a:endParaRPr>
            </a:p>
          </p:txBody>
        </p:sp>
        <p:sp>
          <p:nvSpPr>
            <p:cNvPr id="13" name="Text 10">
              <a:extLst>
                <a:ext uri="{FF2B5EF4-FFF2-40B4-BE49-F238E27FC236}">
                  <a16:creationId xmlns:a16="http://schemas.microsoft.com/office/drawing/2014/main" id="{87861BA9-1D46-156E-CFC7-5C34F85C4F73}"/>
                </a:ext>
              </a:extLst>
            </p:cNvPr>
            <p:cNvSpPr/>
            <p:nvPr/>
          </p:nvSpPr>
          <p:spPr>
            <a:xfrm>
              <a:off x="4206239" y="3880249"/>
              <a:ext cx="3152073" cy="37264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s-CL" noProof="0" dirty="0">
                  <a:solidFill>
                    <a:srgbClr val="131313"/>
                  </a:solidFill>
                  <a:latin typeface="Book Antiqua" panose="02040602050305030304" pitchFamily="18" charset="0"/>
                  <a:ea typeface="Calibri" pitchFamily="34" charset="-122"/>
                  <a:cs typeface="Calibri" pitchFamily="34" charset="-120"/>
                </a:rPr>
                <a:t>Omar Salinas</a:t>
              </a:r>
              <a:endParaRPr lang="es-CL" noProof="0" dirty="0">
                <a:solidFill>
                  <a:srgbClr val="131313"/>
                </a:solidFill>
                <a:latin typeface="Book Antiqua" panose="02040602050305030304" pitchFamily="18" charset="0"/>
              </a:endParaRPr>
            </a:p>
          </p:txBody>
        </p:sp>
        <p:sp>
          <p:nvSpPr>
            <p:cNvPr id="14" name="Text 11">
              <a:extLst>
                <a:ext uri="{FF2B5EF4-FFF2-40B4-BE49-F238E27FC236}">
                  <a16:creationId xmlns:a16="http://schemas.microsoft.com/office/drawing/2014/main" id="{C1EEB9BA-F67F-3296-9A1A-FF1B54320FA5}"/>
                </a:ext>
              </a:extLst>
            </p:cNvPr>
            <p:cNvSpPr/>
            <p:nvPr/>
          </p:nvSpPr>
          <p:spPr>
            <a:xfrm>
              <a:off x="914399" y="4374619"/>
              <a:ext cx="3152073" cy="3229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s-CL" sz="1200" b="1" kern="0" spc="150" noProof="0" dirty="0">
                  <a:solidFill>
                    <a:srgbClr val="003300"/>
                  </a:solidFill>
                  <a:latin typeface="Congenial" panose="02000503040000020004" pitchFamily="2" charset="0"/>
                  <a:ea typeface="Calibri" pitchFamily="34" charset="-122"/>
                  <a:cs typeface="Calibri" pitchFamily="34" charset="-120"/>
                </a:rPr>
                <a:t>ASIGNATURA</a:t>
              </a:r>
              <a:endParaRPr lang="es-CL" sz="1200" noProof="0" dirty="0">
                <a:solidFill>
                  <a:srgbClr val="003300"/>
                </a:solidFill>
                <a:latin typeface="Congenial" panose="02000503040000020004" pitchFamily="2" charset="0"/>
              </a:endParaRPr>
            </a:p>
          </p:txBody>
        </p:sp>
        <p:sp>
          <p:nvSpPr>
            <p:cNvPr id="15" name="Text 12">
              <a:extLst>
                <a:ext uri="{FF2B5EF4-FFF2-40B4-BE49-F238E27FC236}">
                  <a16:creationId xmlns:a16="http://schemas.microsoft.com/office/drawing/2014/main" id="{642132B0-DC72-EFA4-DD33-D74B3979EB1A}"/>
                </a:ext>
              </a:extLst>
            </p:cNvPr>
            <p:cNvSpPr/>
            <p:nvPr/>
          </p:nvSpPr>
          <p:spPr>
            <a:xfrm>
              <a:off x="914399" y="4616850"/>
              <a:ext cx="3152073" cy="37264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s-CL" noProof="0" dirty="0">
                  <a:solidFill>
                    <a:srgbClr val="131313"/>
                  </a:solidFill>
                  <a:latin typeface="Book Antiqua" panose="02040602050305030304" pitchFamily="18" charset="0"/>
                  <a:ea typeface="Calibri" pitchFamily="34" charset="-122"/>
                  <a:cs typeface="Calibri" pitchFamily="34" charset="-120"/>
                </a:rPr>
                <a:t>Ciencia de Datos</a:t>
              </a:r>
              <a:endParaRPr lang="es-CL" noProof="0" dirty="0">
                <a:solidFill>
                  <a:srgbClr val="131313"/>
                </a:solidFill>
                <a:latin typeface="Book Antiqua" panose="02040602050305030304" pitchFamily="18" charset="0"/>
              </a:endParaRPr>
            </a:p>
          </p:txBody>
        </p:sp>
        <p:sp>
          <p:nvSpPr>
            <p:cNvPr id="16" name="Text 13">
              <a:extLst>
                <a:ext uri="{FF2B5EF4-FFF2-40B4-BE49-F238E27FC236}">
                  <a16:creationId xmlns:a16="http://schemas.microsoft.com/office/drawing/2014/main" id="{B37E823F-1BDA-EEE7-27E9-FA9E672509F7}"/>
                </a:ext>
              </a:extLst>
            </p:cNvPr>
            <p:cNvSpPr/>
            <p:nvPr/>
          </p:nvSpPr>
          <p:spPr>
            <a:xfrm>
              <a:off x="4206239" y="4374619"/>
              <a:ext cx="3152073" cy="3229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s-CL" sz="1200" b="1" kern="0" spc="150" noProof="0" dirty="0">
                  <a:solidFill>
                    <a:srgbClr val="003300"/>
                  </a:solidFill>
                  <a:latin typeface="Congenial" panose="02000503040000020004" pitchFamily="2" charset="0"/>
                  <a:ea typeface="Calibri" pitchFamily="34" charset="-122"/>
                  <a:cs typeface="Calibri" pitchFamily="34" charset="-120"/>
                </a:rPr>
                <a:t>FECHA</a:t>
              </a:r>
              <a:endParaRPr lang="es-CL" sz="1200" noProof="0" dirty="0">
                <a:solidFill>
                  <a:srgbClr val="003300"/>
                </a:solidFill>
                <a:latin typeface="Congenial" panose="02000503040000020004" pitchFamily="2" charset="0"/>
              </a:endParaRPr>
            </a:p>
          </p:txBody>
        </p:sp>
        <p:sp>
          <p:nvSpPr>
            <p:cNvPr id="17" name="Text 14">
              <a:extLst>
                <a:ext uri="{FF2B5EF4-FFF2-40B4-BE49-F238E27FC236}">
                  <a16:creationId xmlns:a16="http://schemas.microsoft.com/office/drawing/2014/main" id="{92167D51-ADD5-A664-158C-8D0C158939DC}"/>
                </a:ext>
              </a:extLst>
            </p:cNvPr>
            <p:cNvSpPr/>
            <p:nvPr/>
          </p:nvSpPr>
          <p:spPr>
            <a:xfrm>
              <a:off x="4206239" y="4616850"/>
              <a:ext cx="3152073" cy="37264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s-CL" noProof="0" dirty="0">
                  <a:solidFill>
                    <a:srgbClr val="131313"/>
                  </a:solidFill>
                  <a:latin typeface="Book Antiqua" panose="02040602050305030304" pitchFamily="18" charset="0"/>
                  <a:ea typeface="Calibri" pitchFamily="34" charset="-122"/>
                  <a:cs typeface="Calibri" pitchFamily="34" charset="-120"/>
                </a:rPr>
                <a:t>18 de Junio de 2026</a:t>
              </a:r>
              <a:endParaRPr lang="es-CL" noProof="0" dirty="0">
                <a:solidFill>
                  <a:srgbClr val="131313"/>
                </a:solidFill>
                <a:latin typeface="Book Antiqua" panose="02040602050305030304" pitchFamily="18" charset="0"/>
              </a:endParaRPr>
            </a:p>
          </p:txBody>
        </p:sp>
      </p:grpSp>
      <p:sp>
        <p:nvSpPr>
          <p:cNvPr id="5" name="Text 2">
            <a:extLst>
              <a:ext uri="{FF2B5EF4-FFF2-40B4-BE49-F238E27FC236}">
                <a16:creationId xmlns:a16="http://schemas.microsoft.com/office/drawing/2014/main" id="{24FD913C-1D33-C71A-7F50-562C4431A709}"/>
              </a:ext>
            </a:extLst>
          </p:cNvPr>
          <p:cNvSpPr/>
          <p:nvPr/>
        </p:nvSpPr>
        <p:spPr>
          <a:xfrm>
            <a:off x="457201" y="399542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9600" b="1" kern="0" spc="200" noProof="0" dirty="0">
                <a:solidFill>
                  <a:srgbClr val="144727"/>
                </a:solidFill>
                <a:latin typeface="Congenial" panose="02000503040000020004" pitchFamily="2" charset="0"/>
                <a:ea typeface="Calibri" pitchFamily="34" charset="-122"/>
                <a:cs typeface="Calibri" pitchFamily="34" charset="-120"/>
              </a:rPr>
              <a:t>GRACIAS </a:t>
            </a:r>
            <a:r>
              <a:rPr lang="es-CL" sz="9600" b="1" kern="0" spc="200" noProof="0" dirty="0" err="1">
                <a:solidFill>
                  <a:srgbClr val="144727"/>
                </a:solidFill>
                <a:latin typeface="Congenial" panose="02000503040000020004" pitchFamily="2" charset="0"/>
                <a:ea typeface="Calibri" pitchFamily="34" charset="-122"/>
                <a:cs typeface="Calibri" pitchFamily="34" charset="-120"/>
              </a:rPr>
              <a:t>iii</a:t>
            </a:r>
            <a:endParaRPr lang="es-CL" sz="9600" noProof="0" dirty="0">
              <a:solidFill>
                <a:srgbClr val="144727"/>
              </a:solidFill>
              <a:latin typeface="Congenial" panose="02000503040000020004" pitchFamily="2" charset="0"/>
            </a:endParaRPr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FB5D311D-7C91-01F9-864F-454169D15B7F}"/>
              </a:ext>
            </a:extLst>
          </p:cNvPr>
          <p:cNvSpPr/>
          <p:nvPr/>
        </p:nvSpPr>
        <p:spPr>
          <a:xfrm>
            <a:off x="502922" y="2223770"/>
            <a:ext cx="731520" cy="731520"/>
          </a:xfrm>
          <a:prstGeom prst="ellipse">
            <a:avLst/>
          </a:prstGeom>
          <a:solidFill>
            <a:srgbClr val="144727"/>
          </a:solidFill>
          <a:ln/>
        </p:spPr>
        <p:txBody>
          <a:bodyPr/>
          <a:lstStyle/>
          <a:p>
            <a:endParaRPr lang="es-CL" sz="3200" noProof="0" dirty="0">
              <a:solidFill>
                <a:srgbClr val="1ED760"/>
              </a:solidFill>
            </a:endParaRPr>
          </a:p>
        </p:txBody>
      </p:sp>
      <p:pic>
        <p:nvPicPr>
          <p:cNvPr id="22" name="Image 0" descr="/tmp/u_qa_w.png">
            <a:extLst>
              <a:ext uri="{FF2B5EF4-FFF2-40B4-BE49-F238E27FC236}">
                <a16:creationId xmlns:a16="http://schemas.microsoft.com/office/drawing/2014/main" id="{13B20452-FE72-58C6-6D8C-282B3B65189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9D968E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704090" y="2424938"/>
            <a:ext cx="329184" cy="329184"/>
          </a:xfrm>
          <a:prstGeom prst="rect">
            <a:avLst/>
          </a:prstGeom>
        </p:spPr>
      </p:pic>
      <p:sp>
        <p:nvSpPr>
          <p:cNvPr id="24" name="Text 4">
            <a:extLst>
              <a:ext uri="{FF2B5EF4-FFF2-40B4-BE49-F238E27FC236}">
                <a16:creationId xmlns:a16="http://schemas.microsoft.com/office/drawing/2014/main" id="{5CDBF629-FF45-6880-236B-4669B877552B}"/>
              </a:ext>
            </a:extLst>
          </p:cNvPr>
          <p:cNvSpPr/>
          <p:nvPr/>
        </p:nvSpPr>
        <p:spPr>
          <a:xfrm>
            <a:off x="1417321" y="2223770"/>
            <a:ext cx="619187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4000" b="1" noProof="0" dirty="0">
                <a:solidFill>
                  <a:srgbClr val="144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¿Alguna pregunta?</a:t>
            </a:r>
            <a:endParaRPr lang="es-CL" sz="4000" noProof="0" dirty="0">
              <a:solidFill>
                <a:srgbClr val="144727"/>
              </a:solidFill>
            </a:endParaRPr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EAD3002E-0640-31E2-F5FD-852AF0F5CC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6402" y="107717"/>
            <a:ext cx="2759218" cy="1175841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C8A19244-5E3B-707B-A4DE-401D165085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35639" y="156837"/>
            <a:ext cx="1077603" cy="107760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40699621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13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37160" cy="137160"/>
          </a:xfrm>
          <a:prstGeom prst="rect">
            <a:avLst/>
          </a:prstGeom>
          <a:solidFill>
            <a:srgbClr val="1ED760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896112" y="47548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300" b="1" kern="0" spc="250" noProof="0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07</a:t>
            </a:r>
            <a:endParaRPr lang="es-CL" sz="1300" noProof="0" dirty="0">
              <a:solidFill>
                <a:srgbClr val="1ED76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621792" y="786384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3000" b="1" noProof="0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</a:t>
            </a:r>
            <a:endParaRPr lang="es-CL" sz="3000" noProof="0" dirty="0">
              <a:solidFill>
                <a:srgbClr val="1ED760"/>
              </a:solidFill>
            </a:endParaRPr>
          </a:p>
        </p:txBody>
      </p:sp>
      <p:sp>
        <p:nvSpPr>
          <p:cNvPr id="7" name="Shape 4"/>
          <p:cNvSpPr/>
          <p:nvPr/>
        </p:nvSpPr>
        <p:spPr>
          <a:xfrm>
            <a:off x="640080" y="1357825"/>
            <a:ext cx="10908792" cy="4832607"/>
          </a:xfrm>
          <a:prstGeom prst="roundRect">
            <a:avLst>
              <a:gd name="adj" fmla="val 2195"/>
            </a:avLst>
          </a:prstGeom>
          <a:solidFill>
            <a:srgbClr val="12273F"/>
          </a:solidFill>
          <a:ln/>
          <a:effectLst>
            <a:outerShdw blurRad="76200" dist="25400" dir="5400000" algn="bl" rotWithShape="0">
              <a:srgbClr val="0B1B2F">
                <a:alpha val="10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pic>
        <p:nvPicPr>
          <p:cNvPr id="8" name="Image 1" descr="/tmp/u_r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35608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1463040"/>
            <a:ext cx="9537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600" b="1" noProof="0" dirty="0">
                <a:solidFill>
                  <a:srgbClr val="12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Bibliografía y fuentes (APA)</a:t>
            </a:r>
            <a:endParaRPr lang="es-CL" sz="1600" noProof="0" dirty="0"/>
          </a:p>
        </p:txBody>
      </p:sp>
      <p:sp>
        <p:nvSpPr>
          <p:cNvPr id="10" name="Text 6"/>
          <p:cNvSpPr/>
          <p:nvPr/>
        </p:nvSpPr>
        <p:spPr>
          <a:xfrm>
            <a:off x="982980" y="1527047"/>
            <a:ext cx="10431780" cy="4179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>
              <a:buFont typeface="+mj-lt"/>
              <a:buAutoNum type="arabicPeriod"/>
            </a:pPr>
            <a:r>
              <a:rPr lang="es-CL" sz="2400" dirty="0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Reese, A. (2021). </a:t>
            </a:r>
            <a:r>
              <a:rPr lang="es-CL" sz="2400" dirty="0" err="1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Craigslist</a:t>
            </a:r>
            <a:r>
              <a:rPr lang="es-CL" sz="2400" dirty="0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Cars and Trucks Data. </a:t>
            </a:r>
            <a:r>
              <a:rPr lang="es-CL" sz="2400" dirty="0" err="1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Kaggle</a:t>
            </a:r>
            <a:r>
              <a:rPr lang="es-CL" sz="2400" dirty="0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s-CL" sz="2400" dirty="0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Wirth, R., &amp; Hipp, J. (2000). CRISP-DM: </a:t>
            </a:r>
            <a:r>
              <a:rPr lang="es-CL" sz="2400" dirty="0" err="1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Towards</a:t>
            </a:r>
            <a:r>
              <a:rPr lang="es-CL" sz="2400" dirty="0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Standard Process Model </a:t>
            </a:r>
            <a:r>
              <a:rPr lang="es-CL" sz="2400" dirty="0" err="1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s-CL" sz="2400" dirty="0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es-CL" sz="2400" dirty="0" err="1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Mining</a:t>
            </a:r>
            <a:r>
              <a:rPr lang="es-CL" sz="2400" dirty="0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s-CL" sz="2400" dirty="0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James, G., Witten, D., Hastie, T., &amp; </a:t>
            </a:r>
            <a:r>
              <a:rPr lang="es-CL" sz="2400" dirty="0" err="1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Tibshirani</a:t>
            </a:r>
            <a:r>
              <a:rPr lang="es-CL" sz="2400" dirty="0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R. (2021). </a:t>
            </a:r>
            <a:r>
              <a:rPr lang="es-CL" sz="2400" dirty="0" err="1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es-CL" sz="2400" dirty="0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CL" sz="2400" dirty="0" err="1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r>
              <a:rPr lang="es-CL" sz="2400" dirty="0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CL" sz="2400" dirty="0" err="1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s-CL" sz="2400" dirty="0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CL" sz="2400" dirty="0" err="1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Statistical</a:t>
            </a:r>
            <a:r>
              <a:rPr lang="es-CL" sz="2400" dirty="0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CL" sz="2400" dirty="0" err="1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es-CL" sz="2400" dirty="0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s-CL" sz="2400" dirty="0" err="1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Breiman</a:t>
            </a:r>
            <a:r>
              <a:rPr lang="es-CL" sz="2400" dirty="0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L. (2001). Random </a:t>
            </a:r>
            <a:r>
              <a:rPr lang="es-CL" sz="2400" dirty="0" err="1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Forests</a:t>
            </a:r>
            <a:r>
              <a:rPr lang="es-CL" sz="2400" dirty="0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Machine </a:t>
            </a:r>
            <a:r>
              <a:rPr lang="es-CL" sz="2400" dirty="0" err="1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es-CL" sz="2400" dirty="0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s-CL" sz="2400" dirty="0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Pedregosa, F. et al. (2011). </a:t>
            </a:r>
            <a:r>
              <a:rPr lang="es-CL" sz="2400" dirty="0" err="1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Scikit</a:t>
            </a:r>
            <a:r>
              <a:rPr lang="es-CL" sz="2400" dirty="0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-Learn: Machine </a:t>
            </a:r>
            <a:r>
              <a:rPr lang="es-CL" sz="2400" dirty="0" err="1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es-CL" sz="2400" dirty="0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Python.</a:t>
            </a:r>
          </a:p>
          <a:p>
            <a:pPr marL="457200" indent="-457200">
              <a:buFont typeface="+mj-lt"/>
              <a:buAutoNum type="arabicPeriod"/>
            </a:pPr>
            <a:r>
              <a:rPr lang="es-CL" sz="2400" dirty="0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Ramírez, S. (2024). </a:t>
            </a:r>
            <a:r>
              <a:rPr lang="es-CL" sz="2400" dirty="0" err="1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s-CL" sz="2400" dirty="0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CL" sz="2400" dirty="0" err="1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</a:t>
            </a:r>
            <a:r>
              <a:rPr lang="es-CL" sz="2400" dirty="0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s-CL" sz="2400" dirty="0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Meta Open </a:t>
            </a:r>
            <a:r>
              <a:rPr lang="es-CL" sz="2400" dirty="0" err="1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  <a:r>
              <a:rPr lang="es-CL" sz="2400" dirty="0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(2024). </a:t>
            </a:r>
            <a:r>
              <a:rPr lang="es-CL" sz="2400" dirty="0" err="1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es-CL" sz="2400" dirty="0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CL" sz="2400" dirty="0" err="1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</a:t>
            </a:r>
            <a:r>
              <a:rPr lang="es-CL" sz="2400" dirty="0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s-CL" sz="2400" dirty="0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Cui, B. et al. (2022). Used Car Price </a:t>
            </a:r>
            <a:r>
              <a:rPr lang="es-CL" sz="2400" dirty="0" err="1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r>
              <a:rPr lang="es-CL" sz="2400" dirty="0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CL" sz="2400" dirty="0" err="1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based</a:t>
            </a:r>
            <a:r>
              <a:rPr lang="es-CL" sz="2400" dirty="0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CL" sz="2400" dirty="0" err="1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s-CL" sz="2400" dirty="0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CL" sz="2400" dirty="0" err="1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s-CL" sz="2400" dirty="0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s-CL" sz="2400" dirty="0" err="1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s-CL" sz="2400" dirty="0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Asimov, I. (1950). </a:t>
            </a:r>
            <a:r>
              <a:rPr lang="en-US" sz="2400" dirty="0" err="1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</a:t>
            </a:r>
            <a:r>
              <a:rPr lang="en-US" sz="2400" dirty="0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Robot. Gnome Press.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Bradbury, R. (1950). </a:t>
            </a:r>
            <a:r>
              <a:rPr lang="en-US" sz="2400" dirty="0" err="1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Crónicas</a:t>
            </a:r>
            <a:r>
              <a:rPr lang="en-US" sz="2400" dirty="0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Marcianas</a:t>
            </a:r>
            <a:r>
              <a:rPr lang="en-US" sz="2400" dirty="0">
                <a:solidFill>
                  <a:srgbClr val="1ED7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Doubleday.</a:t>
            </a:r>
          </a:p>
          <a:p>
            <a:endParaRPr lang="es-CL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64008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950" noProof="0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Ingeniería · Universidad Andrés Bello</a:t>
            </a:r>
            <a:endParaRPr lang="es-CL" sz="950" noProof="0" dirty="0">
              <a:solidFill>
                <a:srgbClr val="1ED760"/>
              </a:solidFill>
            </a:endParaRPr>
          </a:p>
        </p:txBody>
      </p:sp>
      <p:sp>
        <p:nvSpPr>
          <p:cNvPr id="12" name="Text 8"/>
          <p:cNvSpPr/>
          <p:nvPr/>
        </p:nvSpPr>
        <p:spPr>
          <a:xfrm>
            <a:off x="11183112" y="641908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950" noProof="0" dirty="0">
                <a:solidFill>
                  <a:srgbClr val="30C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s-CL" sz="950" noProof="0" dirty="0">
              <a:solidFill>
                <a:srgbClr val="30C95F"/>
              </a:solidFill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92C18C80-25D0-6C39-6C40-11D932977D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467" y="269744"/>
            <a:ext cx="2038453" cy="86868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D968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35ED1C-719C-A6AC-503D-C35D61881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1604DC2-76C1-4B48-05C8-47793C5EA854}"/>
              </a:ext>
            </a:extLst>
          </p:cNvPr>
          <p:cNvSpPr/>
          <p:nvPr/>
        </p:nvSpPr>
        <p:spPr>
          <a:xfrm>
            <a:off x="9052560" y="-1554480"/>
            <a:ext cx="5120640" cy="5120640"/>
          </a:xfrm>
          <a:prstGeom prst="ellipse">
            <a:avLst/>
          </a:prstGeom>
          <a:ln w="19050">
            <a:solidFill>
              <a:srgbClr val="008000">
                <a:alpha val="17255"/>
              </a:srgbClr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CA3F613-2224-B2A5-2599-6D19C0A9F8AB}"/>
              </a:ext>
            </a:extLst>
          </p:cNvPr>
          <p:cNvSpPr/>
          <p:nvPr/>
        </p:nvSpPr>
        <p:spPr>
          <a:xfrm>
            <a:off x="10241280" y="4206240"/>
            <a:ext cx="3291840" cy="3291840"/>
          </a:xfrm>
          <a:prstGeom prst="ellipse">
            <a:avLst/>
          </a:prstGeom>
          <a:ln w="19050">
            <a:solidFill>
              <a:srgbClr val="169C46">
                <a:alpha val="44706"/>
              </a:srgbClr>
            </a:solidFill>
            <a:prstDash val="solid"/>
          </a:ln>
        </p:spPr>
        <p:txBody>
          <a:bodyPr/>
          <a:lstStyle/>
          <a:p>
            <a:endParaRPr lang="es-CL" noProof="0" dirty="0">
              <a:latin typeface="Congenial" panose="02000503040000020004" pitchFamily="2" charset="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CFF1FF3-B584-3881-64BD-52813FA1DA2E}"/>
              </a:ext>
            </a:extLst>
          </p:cNvPr>
          <p:cNvSpPr/>
          <p:nvPr/>
        </p:nvSpPr>
        <p:spPr>
          <a:xfrm>
            <a:off x="822960" y="15514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400" b="1" kern="0" spc="300" noProof="0" dirty="0">
                <a:solidFill>
                  <a:srgbClr val="008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DE PROYECTO</a:t>
            </a:r>
            <a:endParaRPr lang="es-CL" sz="1400" noProof="0" dirty="0">
              <a:solidFill>
                <a:srgbClr val="008000"/>
              </a:solidFill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E06E819E-F80F-D3AD-2821-DFE5E8179FEC}"/>
              </a:ext>
            </a:extLst>
          </p:cNvPr>
          <p:cNvSpPr/>
          <p:nvPr/>
        </p:nvSpPr>
        <p:spPr>
          <a:xfrm>
            <a:off x="695960" y="1847088"/>
            <a:ext cx="102073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s-CL" sz="8000" b="1" noProof="0" dirty="0">
                <a:solidFill>
                  <a:srgbClr val="131313"/>
                </a:solidFill>
                <a:latin typeface="Congenial" panose="02000503040000020004" pitchFamily="2" charset="0"/>
                <a:ea typeface="Calibri" pitchFamily="34" charset="-122"/>
                <a:cs typeface="Calibri" pitchFamily="34" charset="-120"/>
              </a:rPr>
              <a:t>Choque de Realidad</a:t>
            </a:r>
            <a:endParaRPr lang="es-CL" sz="8000" noProof="0" dirty="0">
              <a:solidFill>
                <a:srgbClr val="131313"/>
              </a:solidFill>
              <a:latin typeface="Congenial" panose="02000503040000020004" pitchFamily="2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790AF2F1-5D96-8C27-B0FB-919E6B4A455E}"/>
              </a:ext>
            </a:extLst>
          </p:cNvPr>
          <p:cNvSpPr/>
          <p:nvPr/>
        </p:nvSpPr>
        <p:spPr>
          <a:xfrm>
            <a:off x="777240" y="31120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2000" noProof="0" dirty="0">
                <a:solidFill>
                  <a:srgbClr val="003300"/>
                </a:solidFill>
                <a:latin typeface="Book Antiqua" panose="02040602050305030304" pitchFamily="18" charset="0"/>
                <a:ea typeface="Calibri" pitchFamily="34" charset="-122"/>
                <a:cs typeface="Calibri" pitchFamily="34" charset="-120"/>
              </a:rPr>
              <a:t>Sistema de Estimación de Precios de Vehículos Usados mediante Aprendizaje Automático</a:t>
            </a:r>
            <a:endParaRPr lang="es-CL" sz="2000" noProof="0" dirty="0">
              <a:solidFill>
                <a:srgbClr val="003300"/>
              </a:solidFill>
              <a:latin typeface="Book Antiqua" panose="02040602050305030304" pitchFamily="18" charset="0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D0053401-D1F2-F8FC-B61A-A7A3B3FB6A75}"/>
              </a:ext>
            </a:extLst>
          </p:cNvPr>
          <p:cNvSpPr/>
          <p:nvPr/>
        </p:nvSpPr>
        <p:spPr>
          <a:xfrm>
            <a:off x="777240" y="3926840"/>
            <a:ext cx="7259320" cy="1925320"/>
          </a:xfrm>
          <a:prstGeom prst="roundRect">
            <a:avLst>
              <a:gd name="adj" fmla="val 645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L" noProof="0" dirty="0">
              <a:latin typeface="Congenial" panose="02000503040000020004" pitchFamily="2" charset="0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C02F8344-1C29-0A5C-FD1C-3D8AD9DC7AD7}"/>
              </a:ext>
            </a:extLst>
          </p:cNvPr>
          <p:cNvSpPr/>
          <p:nvPr/>
        </p:nvSpPr>
        <p:spPr>
          <a:xfrm>
            <a:off x="1142999" y="4097527"/>
            <a:ext cx="3152073" cy="322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b="1" kern="0" spc="150" noProof="0" dirty="0">
                <a:solidFill>
                  <a:srgbClr val="003300"/>
                </a:solidFill>
                <a:latin typeface="Congenial" panose="02000503040000020004" pitchFamily="2" charset="0"/>
                <a:ea typeface="Calibri" pitchFamily="34" charset="-122"/>
                <a:cs typeface="Calibri" pitchFamily="34" charset="-120"/>
              </a:rPr>
              <a:t>AUTOR</a:t>
            </a:r>
            <a:endParaRPr lang="es-CL" sz="1200" noProof="0" dirty="0">
              <a:solidFill>
                <a:srgbClr val="003300"/>
              </a:solidFill>
              <a:latin typeface="Congenial" panose="02000503040000020004" pitchFamily="2" charset="0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FF536DA8-E129-50CA-6FCD-300102A9D40D}"/>
              </a:ext>
            </a:extLst>
          </p:cNvPr>
          <p:cNvSpPr/>
          <p:nvPr/>
        </p:nvSpPr>
        <p:spPr>
          <a:xfrm>
            <a:off x="1142999" y="4339758"/>
            <a:ext cx="3152073" cy="372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noProof="0" dirty="0">
                <a:solidFill>
                  <a:srgbClr val="131313"/>
                </a:solidFill>
                <a:latin typeface="Book Antiqua" panose="02040602050305030304" pitchFamily="18" charset="0"/>
                <a:ea typeface="Calibri" pitchFamily="34" charset="-122"/>
                <a:cs typeface="Calibri" pitchFamily="34" charset="-120"/>
              </a:rPr>
              <a:t>Celso Farías</a:t>
            </a:r>
            <a:endParaRPr lang="es-CL" noProof="0" dirty="0">
              <a:solidFill>
                <a:srgbClr val="131313"/>
              </a:solidFill>
              <a:latin typeface="Book Antiqua" panose="02040602050305030304" pitchFamily="18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4C88D9D3-2C4F-AFAF-59E3-4FAF8E939D98}"/>
              </a:ext>
            </a:extLst>
          </p:cNvPr>
          <p:cNvSpPr/>
          <p:nvPr/>
        </p:nvSpPr>
        <p:spPr>
          <a:xfrm>
            <a:off x="4434839" y="4097527"/>
            <a:ext cx="3152073" cy="322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b="1" kern="0" spc="150" noProof="0" dirty="0">
                <a:solidFill>
                  <a:srgbClr val="003300"/>
                </a:solidFill>
                <a:latin typeface="Congenial" panose="02000503040000020004" pitchFamily="2" charset="0"/>
                <a:ea typeface="Calibri" pitchFamily="34" charset="-122"/>
                <a:cs typeface="Calibri" pitchFamily="34" charset="-120"/>
              </a:rPr>
              <a:t>DOCENTE</a:t>
            </a:r>
            <a:endParaRPr lang="es-CL" sz="1200" noProof="0" dirty="0">
              <a:solidFill>
                <a:srgbClr val="003300"/>
              </a:solidFill>
              <a:latin typeface="Congenial" panose="02000503040000020004" pitchFamily="2" charset="0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56DCC371-67C4-2157-C697-105B54591FC4}"/>
              </a:ext>
            </a:extLst>
          </p:cNvPr>
          <p:cNvSpPr/>
          <p:nvPr/>
        </p:nvSpPr>
        <p:spPr>
          <a:xfrm>
            <a:off x="4434839" y="4339758"/>
            <a:ext cx="3152073" cy="372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noProof="0" dirty="0">
                <a:solidFill>
                  <a:srgbClr val="131313"/>
                </a:solidFill>
                <a:latin typeface="Book Antiqua" panose="02040602050305030304" pitchFamily="18" charset="0"/>
                <a:ea typeface="Calibri" pitchFamily="34" charset="-122"/>
                <a:cs typeface="Calibri" pitchFamily="34" charset="-120"/>
              </a:rPr>
              <a:t>Omar Salinas</a:t>
            </a:r>
            <a:endParaRPr lang="es-CL" noProof="0" dirty="0">
              <a:solidFill>
                <a:srgbClr val="131313"/>
              </a:solidFill>
              <a:latin typeface="Book Antiqua" panose="02040602050305030304" pitchFamily="18" charset="0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F4786F0F-48E9-D812-01AC-5074CBE2FBCC}"/>
              </a:ext>
            </a:extLst>
          </p:cNvPr>
          <p:cNvSpPr/>
          <p:nvPr/>
        </p:nvSpPr>
        <p:spPr>
          <a:xfrm>
            <a:off x="1142999" y="4834128"/>
            <a:ext cx="3152073" cy="322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b="1" kern="0" spc="150" noProof="0" dirty="0">
                <a:solidFill>
                  <a:srgbClr val="003300"/>
                </a:solidFill>
                <a:latin typeface="Congenial" panose="02000503040000020004" pitchFamily="2" charset="0"/>
                <a:ea typeface="Calibri" pitchFamily="34" charset="-122"/>
                <a:cs typeface="Calibri" pitchFamily="34" charset="-120"/>
              </a:rPr>
              <a:t>ASIGNATURA</a:t>
            </a:r>
            <a:endParaRPr lang="es-CL" sz="1200" noProof="0" dirty="0">
              <a:solidFill>
                <a:srgbClr val="003300"/>
              </a:solidFill>
              <a:latin typeface="Congenial" panose="02000503040000020004" pitchFamily="2" charset="0"/>
            </a:endParaRP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34772DF9-48DC-384C-FEC6-864638A65238}"/>
              </a:ext>
            </a:extLst>
          </p:cNvPr>
          <p:cNvSpPr/>
          <p:nvPr/>
        </p:nvSpPr>
        <p:spPr>
          <a:xfrm>
            <a:off x="1142999" y="5076359"/>
            <a:ext cx="3152073" cy="372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L" noProof="0" dirty="0">
                <a:solidFill>
                  <a:srgbClr val="131313"/>
                </a:solidFill>
                <a:latin typeface="Book Antiqua" panose="02040602050305030304" pitchFamily="18" charset="0"/>
                <a:ea typeface="Calibri" pitchFamily="34" charset="-122"/>
                <a:cs typeface="Calibri" pitchFamily="34" charset="-120"/>
              </a:rPr>
              <a:t>Ciencia de Datos</a:t>
            </a:r>
            <a:endParaRPr lang="es-CL" noProof="0" dirty="0">
              <a:solidFill>
                <a:srgbClr val="131313"/>
              </a:solidFill>
              <a:latin typeface="Book Antiqua" panose="02040602050305030304" pitchFamily="18" charset="0"/>
            </a:endParaRP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92BA5A1B-2665-59CF-8333-16C2A9094F34}"/>
              </a:ext>
            </a:extLst>
          </p:cNvPr>
          <p:cNvSpPr/>
          <p:nvPr/>
        </p:nvSpPr>
        <p:spPr>
          <a:xfrm>
            <a:off x="4434839" y="4834128"/>
            <a:ext cx="3152073" cy="322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b="1" kern="0" spc="150" noProof="0" dirty="0">
                <a:solidFill>
                  <a:srgbClr val="003300"/>
                </a:solidFill>
                <a:latin typeface="Congenial" panose="02000503040000020004" pitchFamily="2" charset="0"/>
                <a:ea typeface="Calibri" pitchFamily="34" charset="-122"/>
                <a:cs typeface="Calibri" pitchFamily="34" charset="-120"/>
              </a:rPr>
              <a:t>FECHA</a:t>
            </a:r>
            <a:endParaRPr lang="es-CL" sz="1200" noProof="0" dirty="0">
              <a:solidFill>
                <a:srgbClr val="003300"/>
              </a:solidFill>
              <a:latin typeface="Congenial" panose="02000503040000020004" pitchFamily="2" charset="0"/>
            </a:endParaRP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2BD1B3BA-6F86-CC2C-7D53-DB2652358FF7}"/>
              </a:ext>
            </a:extLst>
          </p:cNvPr>
          <p:cNvSpPr/>
          <p:nvPr/>
        </p:nvSpPr>
        <p:spPr>
          <a:xfrm>
            <a:off x="4434839" y="5076359"/>
            <a:ext cx="3152073" cy="372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noProof="0" dirty="0">
                <a:solidFill>
                  <a:srgbClr val="131313"/>
                </a:solidFill>
                <a:latin typeface="Book Antiqua" panose="02040602050305030304" pitchFamily="18" charset="0"/>
                <a:ea typeface="Calibri" pitchFamily="34" charset="-122"/>
                <a:cs typeface="Calibri" pitchFamily="34" charset="-120"/>
              </a:rPr>
              <a:t>18 de Junio de 2026</a:t>
            </a:r>
            <a:endParaRPr lang="es-CL" noProof="0" dirty="0">
              <a:solidFill>
                <a:srgbClr val="131313"/>
              </a:solidFill>
              <a:latin typeface="Book Antiqua" panose="02040602050305030304" pitchFamily="18" charset="0"/>
            </a:endParaRP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8CA724DA-3ECE-7603-FC0E-45DF6C23A5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960" y="269744"/>
            <a:ext cx="2642825" cy="112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1893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553</TotalTime>
  <Words>1497</Words>
  <Application>Microsoft Office PowerPoint</Application>
  <PresentationFormat>Panorámica</PresentationFormat>
  <Paragraphs>250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9" baseType="lpstr">
      <vt:lpstr>Arial</vt:lpstr>
      <vt:lpstr>Book Antiqua</vt:lpstr>
      <vt:lpstr>Calibri</vt:lpstr>
      <vt:lpstr>Congenial</vt:lpstr>
      <vt:lpstr>Times New Roman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 de Presentación — UNAB Facultad de Ingeniería</dc:title>
  <dc:subject>PptxGenJS Presentation</dc:subject>
  <dc:creator>Facultad de Ingeniería · Universidad Andrés Bello</dc:creator>
  <cp:lastModifiedBy>celso farias</cp:lastModifiedBy>
  <cp:revision>18</cp:revision>
  <dcterms:created xsi:type="dcterms:W3CDTF">2026-06-11T13:41:52Z</dcterms:created>
  <dcterms:modified xsi:type="dcterms:W3CDTF">2026-06-17T20:40:11Z</dcterms:modified>
</cp:coreProperties>
</file>