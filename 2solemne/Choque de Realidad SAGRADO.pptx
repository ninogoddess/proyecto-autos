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7" r:id="rId9"/>
    <p:sldId id="261" r:id="rId10"/>
    <p:sldId id="263" r:id="rId11"/>
    <p:sldId id="268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01DB04-E15C-3223-F49B-DE929EA23088}" name="celso farias" initials="cf" userId="25c7f24a5fa08e9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D760"/>
    <a:srgbClr val="12273F"/>
    <a:srgbClr val="008000"/>
    <a:srgbClr val="131313"/>
    <a:srgbClr val="9D968E"/>
    <a:srgbClr val="144727"/>
    <a:srgbClr val="131413"/>
    <a:srgbClr val="282827"/>
    <a:srgbClr val="1B1A18"/>
    <a:srgbClr val="30C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-318" y="-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3AE7D0-85F3-4DD6-8949-237D462B31FD}" authorId="{DE01DB04-E15C-3223-F49B-DE929EA23088}" created="2026-06-17T04:50:01.0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picMk id="20" creationId="{B36D9F40-8609-994F-B1AF-D49E1B004394}"/>
    </ac:deMkLst>
    <p188:txBody>
      <a:bodyPr/>
      <a:lstStyle/>
      <a:p>
        <a:r>
          <a:rPr lang="es-CL"/>
          <a:t>Cambiar imagen pedir a gemeni una vertical.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18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 los campos entre corchetes [ ] con la información de tu proyecto: título, integrantes, asignatura, docente y fecha. Esta lámina es la primera impresión: mantenla limpia y sin texto de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ÍNDICE. Da una vista rápida del recorrido de tu exposición. Ajusta los títulos para que coincidan con tus láminas.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INTRODUCCIÓN. Sitúa al público antes de entrar en detalle. Termina dejando claro el problema; eso conecta con la sección de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OBJETIVOS. Usa verbos en infinitivo (analizar, diseñar, implementar, evaluar). Los específicos deben sumar al general y ser verificables.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METODOLOGÍA. Que el público entienda CÓMO lo hiciste. Un diagrama de etapas o flujo suele comunicar mejor que un párrafo.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49F9-BFFC-C625-B44E-7F94C0CBE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B1735-0FA3-3F8F-1B8C-2A0476C5B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48377-0411-F6F0-898B-27D652B44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METODOLOGÍA. Que el público entienda CÓMO lo hiciste. Un diagrama de etapas o flujo suele comunicar mejor que un párrafo.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4ACA-8348-8405-1373-BD7C428DE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1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RESULTADOS. Deja que los datos hablen. Reemplaza las cifras destacadas con tus resultados reales y explica qué significan.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AFCE-B03E-D47C-BE40-95E05EC2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F2F8C-012D-5F69-ED08-8D506C1C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6FB42-A7A9-831D-3DAE-0E3A96152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RESULTADOS. Deja que los datos hablen. Reemplaza las cifras destacadas con tus resultados reales y explica qué significan.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50DFF-CFBF-DFFD-4869-7007B7CB3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8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DESARROLLO. Es el corazón de la exposición. Prioriza lo esencial y usa apoyos visuales; evita saturar la lámina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CONCLUSIONES. Conecta cada conclusión con un objetivo. No introduzcas información nueva aquí; sintetiza.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D44C-A1F7-F5B2-8BE4-D64026B5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E001-1709-CA23-8942-2A6073EA8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84103-0AEC-0C91-DD42-FC9A198E7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 los campos entre corchetes [ ] con la información de tu proyecto: título, integrantes, asignatura, docente y fecha. Esta lámina es la primera impresión: mantenla limpia y sin texto de más.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4C1B1-28B3-B549-6B09-5B17717A2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3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REFERENCIAS. Mantén un formato consistente (APA). Solo incluye fuentes que realmente citaste o consultaste.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D96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551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</a:t>
            </a:r>
            <a:endParaRPr lang="es-CL" sz="1400" noProof="0" dirty="0">
              <a:solidFill>
                <a:srgbClr val="008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95960" y="1847088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8000" b="1" noProof="0" dirty="0">
                <a:solidFill>
                  <a:srgbClr val="131313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Choque de Realidad</a:t>
            </a:r>
            <a:endParaRPr lang="es-CL" sz="8000" noProof="0" dirty="0">
              <a:solidFill>
                <a:srgbClr val="131313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112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00330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Sistema de Estimación de Precios de Vehículos Usados mediante Aprendizaje Automático</a:t>
            </a:r>
            <a:endParaRPr lang="es-CL" sz="2000" noProof="0" dirty="0">
              <a:solidFill>
                <a:srgbClr val="0033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3926840"/>
            <a:ext cx="7259320" cy="1925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299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AUTOR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299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Celso Farías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3483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3483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Omar Salinas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4299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299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Ciencia de Datos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3483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3483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18 de Junio de 2026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5DE9043-A902-C196-8A4F-E306CE18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269744"/>
            <a:ext cx="2642825" cy="112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69C46"/>
          </a:solidFill>
          <a:ln/>
        </p:spPr>
        <p:txBody>
          <a:bodyPr/>
          <a:lstStyle/>
          <a:p>
            <a:endParaRPr lang="es-CL" noProof="0" dirty="0">
              <a:solidFill>
                <a:srgbClr val="169C4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69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CL" sz="1300" noProof="0" dirty="0">
              <a:solidFill>
                <a:srgbClr val="169C4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CL" sz="1300" noProof="0" dirty="0"/>
          </a:p>
        </p:txBody>
      </p:sp>
      <p:sp>
        <p:nvSpPr>
          <p:cNvPr id="7" name="Shape 4"/>
          <p:cNvSpPr/>
          <p:nvPr/>
        </p:nvSpPr>
        <p:spPr>
          <a:xfrm>
            <a:off x="685800" y="214884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L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1481328" y="214884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" y="301752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8"/>
          <p:cNvSpPr/>
          <p:nvPr/>
        </p:nvSpPr>
        <p:spPr>
          <a:xfrm>
            <a:off x="685800" y="30358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L" sz="1700" noProof="0" dirty="0"/>
          </a:p>
        </p:txBody>
      </p:sp>
      <p:sp>
        <p:nvSpPr>
          <p:cNvPr id="12" name="Text 9"/>
          <p:cNvSpPr/>
          <p:nvPr/>
        </p:nvSpPr>
        <p:spPr>
          <a:xfrm>
            <a:off x="1481328" y="301752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88620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1"/>
          <p:cNvSpPr/>
          <p:nvPr/>
        </p:nvSpPr>
        <p:spPr>
          <a:xfrm>
            <a:off x="685800" y="39044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L" sz="1700" noProof="0" dirty="0"/>
          </a:p>
        </p:txBody>
      </p:sp>
      <p:sp>
        <p:nvSpPr>
          <p:cNvPr id="15" name="Text 12"/>
          <p:cNvSpPr/>
          <p:nvPr/>
        </p:nvSpPr>
        <p:spPr>
          <a:xfrm>
            <a:off x="1481328" y="388620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85800" y="475488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4"/>
          <p:cNvSpPr/>
          <p:nvPr/>
        </p:nvSpPr>
        <p:spPr>
          <a:xfrm>
            <a:off x="685800" y="4773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L" sz="1700" noProof="0" dirty="0"/>
          </a:p>
        </p:txBody>
      </p:sp>
      <p:sp>
        <p:nvSpPr>
          <p:cNvPr id="18" name="Text 15"/>
          <p:cNvSpPr/>
          <p:nvPr/>
        </p:nvSpPr>
        <p:spPr>
          <a:xfrm>
            <a:off x="1481328" y="475488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b="1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7"/>
          <p:cNvSpPr/>
          <p:nvPr/>
        </p:nvSpPr>
        <p:spPr>
          <a:xfrm>
            <a:off x="6537960" y="21671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CL" sz="1700" noProof="0" dirty="0"/>
          </a:p>
        </p:txBody>
      </p:sp>
      <p:sp>
        <p:nvSpPr>
          <p:cNvPr id="21" name="Text 18"/>
          <p:cNvSpPr/>
          <p:nvPr/>
        </p:nvSpPr>
        <p:spPr>
          <a:xfrm>
            <a:off x="7333488" y="214884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b="1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solución</a:t>
            </a:r>
            <a:endParaRPr lang="es-CL" dirty="0">
              <a:solidFill>
                <a:srgbClr val="30C95F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37960" y="301752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0"/>
          <p:cNvSpPr/>
          <p:nvPr/>
        </p:nvSpPr>
        <p:spPr>
          <a:xfrm>
            <a:off x="6537960" y="30358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CL" sz="1700" noProof="0" dirty="0"/>
          </a:p>
        </p:txBody>
      </p:sp>
      <p:sp>
        <p:nvSpPr>
          <p:cNvPr id="24" name="Text 21"/>
          <p:cNvSpPr/>
          <p:nvPr/>
        </p:nvSpPr>
        <p:spPr>
          <a:xfrm>
            <a:off x="7333488" y="301752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537960" y="388620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3"/>
          <p:cNvSpPr/>
          <p:nvPr/>
        </p:nvSpPr>
        <p:spPr>
          <a:xfrm>
            <a:off x="6537960" y="39044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CL" sz="1700" noProof="0" dirty="0"/>
          </a:p>
        </p:txBody>
      </p:sp>
      <p:sp>
        <p:nvSpPr>
          <p:cNvPr id="27" name="Text 24"/>
          <p:cNvSpPr/>
          <p:nvPr/>
        </p:nvSpPr>
        <p:spPr>
          <a:xfrm>
            <a:off x="7333488" y="388620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102A7257-0869-687C-5FA3-50E24AB6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44727"/>
          </a:solidFill>
          <a:ln/>
        </p:spPr>
        <p:txBody>
          <a:bodyPr/>
          <a:lstStyle/>
          <a:p>
            <a:endParaRPr lang="es-CL" noProof="0" dirty="0">
              <a:solidFill>
                <a:srgbClr val="169C4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69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s-CL" sz="1300" noProof="0" dirty="0">
              <a:solidFill>
                <a:srgbClr val="169C4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527048"/>
            <a:ext cx="6035040" cy="4544568"/>
          </a:xfrm>
          <a:prstGeom prst="roundRect">
            <a:avLst>
              <a:gd name="adj" fmla="val 2195"/>
            </a:avLst>
          </a:prstGeom>
          <a:solidFill>
            <a:srgbClr val="9D968E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1051560" y="1847088"/>
            <a:ext cx="5212080" cy="44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antecedentes</a:t>
            </a:r>
            <a:endParaRPr lang="es-CL" sz="2800" b="1" noProof="0" dirty="0">
              <a:solidFill>
                <a:srgbClr val="14472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560" y="2395727"/>
            <a:ext cx="5212080" cy="310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depende de la experiencia humana y criterios subjetivos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noProof="0" dirty="0">
                <a:solidFill>
                  <a:srgbClr val="144727"/>
                </a:solidFill>
                <a:latin typeface="Calibri" pitchFamily="34" charset="0"/>
                <a:cs typeface="Calibri" pitchFamily="34" charset="-120"/>
              </a:rPr>
              <a:t>El precio depende de muchas variables, como el modelo, año, kilometraje, transmisión, entre otras más.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dirty="0">
                <a:solidFill>
                  <a:srgbClr val="144727"/>
                </a:solidFill>
                <a:latin typeface="Calibri" pitchFamily="34" charset="0"/>
                <a:cs typeface="Calibri" pitchFamily="34" charset="-120"/>
              </a:rPr>
              <a:t>Estudios recientes muestran que se puede estimar el precio mediante valores históricos</a:t>
            </a:r>
            <a:r>
              <a:rPr lang="es-CL" sz="1600" dirty="0">
                <a:solidFill>
                  <a:srgbClr val="9AA6B4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s-CL" sz="1600" noProof="0" dirty="0"/>
          </a:p>
        </p:txBody>
      </p:sp>
      <p:sp>
        <p:nvSpPr>
          <p:cNvPr id="10" name="Shape 7"/>
          <p:cNvSpPr/>
          <p:nvPr/>
        </p:nvSpPr>
        <p:spPr>
          <a:xfrm>
            <a:off x="6995160" y="1527048"/>
            <a:ext cx="4553712" cy="4544568"/>
          </a:xfrm>
          <a:prstGeom prst="roundRect">
            <a:avLst>
              <a:gd name="adj" fmla="val 2439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/tmp/u_quote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58182" y="1878624"/>
            <a:ext cx="296487" cy="359400"/>
          </a:xfrm>
          <a:prstGeom prst="rect">
            <a:avLst/>
          </a:prstGeom>
          <a:noFill/>
        </p:spPr>
      </p:pic>
      <p:sp>
        <p:nvSpPr>
          <p:cNvPr id="12" name="Text 8"/>
          <p:cNvSpPr/>
          <p:nvPr/>
        </p:nvSpPr>
        <p:spPr>
          <a:xfrm>
            <a:off x="7617691" y="1843445"/>
            <a:ext cx="3730752" cy="44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kern="0" spc="1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pregunta</a:t>
            </a:r>
            <a:endParaRPr lang="es-CL" sz="2400" noProof="0" dirty="0">
              <a:solidFill>
                <a:srgbClr val="1ED76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158182" y="2379379"/>
            <a:ext cx="4267200" cy="306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MX" sz="2000" noProof="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referencia objetiva y consistente para estimar el valor de un vehículo usado, generando sobrevaloraciones o subvaloraciones. Entonces, </a:t>
            </a:r>
            <a:r>
              <a:rPr lang="es-MX" sz="2000" b="1" noProof="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¿Hasta qué punto es posible estimar el precio de un vehículo usado utilizando sus características mediante técnicas de aprendizaje automático?</a:t>
            </a:r>
            <a:endParaRPr lang="es-CL" sz="2000" b="1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78BDE35-5578-2F48-E2EE-0C0427F9A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solidFill>
            <a:srgbClr val="131313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21792" y="1440179"/>
            <a:ext cx="10927080" cy="1651993"/>
          </a:xfrm>
          <a:prstGeom prst="roundRect">
            <a:avLst>
              <a:gd name="adj" fmla="val 6207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5"/>
          <p:cNvSpPr/>
          <p:nvPr/>
        </p:nvSpPr>
        <p:spPr>
          <a:xfrm>
            <a:off x="987551" y="1783080"/>
            <a:ext cx="641153" cy="726758"/>
          </a:xfrm>
          <a:prstGeom prst="ellipse">
            <a:avLst/>
          </a:prstGeom>
          <a:solidFill>
            <a:srgbClr val="1227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6"/>
          <p:cNvSpPr/>
          <p:nvPr/>
        </p:nvSpPr>
        <p:spPr>
          <a:xfrm>
            <a:off x="1856232" y="1604772"/>
            <a:ext cx="9369994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1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CL" sz="1400" noProof="0" dirty="0">
              <a:solidFill>
                <a:srgbClr val="30C95F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1856232" y="1879091"/>
            <a:ext cx="9369994" cy="93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basado en aprendizaje automático capaz de estimar el precio de vehículos usados a partir de sus características, integrándolo en una aplicación web funcional a un modelo de regresión para apoyar procesos de tasación.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1792" y="3242648"/>
            <a:ext cx="10927080" cy="2491740"/>
          </a:xfrm>
          <a:prstGeom prst="roundRect">
            <a:avLst>
              <a:gd name="adj" fmla="val 3750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9"/>
          <p:cNvSpPr/>
          <p:nvPr/>
        </p:nvSpPr>
        <p:spPr>
          <a:xfrm>
            <a:off x="1033272" y="3516968"/>
            <a:ext cx="1010274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s-CL" sz="160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33272" y="3907989"/>
            <a:ext cx="10102740" cy="1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Analizar y preparar un conjunto de más de 426.000 registros de vehículos usados.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Entrenar y comparar cinco técnicas de regresión utilizando métricas estándar de evaluación.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Seleccionar el modelo con mejor desempeño predictivo para la estimación de precios.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Implementar una aplicación web con </a:t>
            </a:r>
            <a:r>
              <a:rPr lang="es-CL" sz="2000" dirty="0" err="1">
                <a:solidFill>
                  <a:schemeClr val="bg1">
                    <a:lumMod val="75000"/>
                  </a:schemeClr>
                </a:solidFill>
              </a:rPr>
              <a:t>backend</a:t>
            </a: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CL" sz="2000" dirty="0" err="1">
                <a:solidFill>
                  <a:schemeClr val="bg1">
                    <a:lumMod val="75000"/>
                  </a:schemeClr>
                </a:solidFill>
              </a:rPr>
              <a:t>frontend</a:t>
            </a: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 capaces de realizar predicciones en tiempo real</a:t>
            </a:r>
            <a:r>
              <a:rPr lang="es-CL" sz="2000" dirty="0"/>
              <a:t>.</a:t>
            </a:r>
          </a:p>
          <a:p>
            <a:pPr marL="279400" indent="-279400">
              <a:spcAft>
                <a:spcPts val="1200"/>
              </a:spcAft>
              <a:buSzPct val="100000"/>
              <a:buFont typeface="+mj-lt"/>
              <a:buAutoNum type="arabicPeriod"/>
            </a:pPr>
            <a:endParaRPr lang="es-CL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950" noProof="0" dirty="0">
              <a:solidFill>
                <a:srgbClr val="1ED760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C383B07-59FC-1231-545A-3DE17533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73" y="1755648"/>
            <a:ext cx="931938" cy="93193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7559F71-7F18-F507-79D4-BD2A5882E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s-CL" sz="1300" noProof="0" dirty="0">
              <a:solidFill>
                <a:srgbClr val="30C95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70561" y="1527048"/>
            <a:ext cx="4927599" cy="4764024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670561" y="1170083"/>
            <a:ext cx="4663440" cy="421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y etapas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1704729"/>
            <a:ext cx="4663440" cy="374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</a:p>
          <a:p>
            <a:pPr lvl="1">
              <a:spcAft>
                <a:spcPts val="1300"/>
              </a:spcAft>
              <a:buSzPct val="100000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utilizada para estructurar todo el ciclo de vida del proyecto de ciencia de datos.</a:t>
            </a: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problema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y análisis de datos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preprocesamiento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 modelos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comparación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la solución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1" name="Image 1" descr="/tmp/u_met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34747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416052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i="1" noProof="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diagrama o esquema de metodología</a:t>
            </a:r>
            <a:endParaRPr lang="es-CL" sz="1250" noProof="0" dirty="0"/>
          </a:p>
        </p:txBody>
      </p:sp>
      <p:sp>
        <p:nvSpPr>
          <p:cNvPr id="13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36D9F40-8609-994F-B1AF-D49E1B0043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56" t="15091" r="4250" b="8539"/>
          <a:stretch>
            <a:fillRect/>
          </a:stretch>
        </p:blipFill>
        <p:spPr>
          <a:xfrm>
            <a:off x="5745481" y="2111978"/>
            <a:ext cx="6275979" cy="292943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727C52B-E7CA-9E86-8B28-E2D2B7FC5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8767C-1D43-94BE-3FC6-256B79C3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DC193D-AC82-785A-1C3B-0F0FA048B9E4}"/>
              </a:ext>
            </a:extLst>
          </p:cNvPr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986088-58F7-3F4F-24F8-473F46033F8B}"/>
              </a:ext>
            </a:extLst>
          </p:cNvPr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s-CL" sz="1200" noProof="0" dirty="0">
              <a:solidFill>
                <a:srgbClr val="1ED76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93467A-6CEC-8F56-C591-DF9A1D33E1D5}"/>
              </a:ext>
            </a:extLst>
          </p:cNvPr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BF0239E-AAD7-DB80-75CA-D23E39514E3B}"/>
              </a:ext>
            </a:extLst>
          </p:cNvPr>
          <p:cNvSpPr/>
          <p:nvPr/>
        </p:nvSpPr>
        <p:spPr>
          <a:xfrm>
            <a:off x="670561" y="1261642"/>
            <a:ext cx="5486400" cy="5029430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6B9647E-5BEE-5731-7202-3A716D22FCCA}"/>
              </a:ext>
            </a:extLst>
          </p:cNvPr>
          <p:cNvSpPr/>
          <p:nvPr/>
        </p:nvSpPr>
        <p:spPr>
          <a:xfrm>
            <a:off x="896112" y="1439979"/>
            <a:ext cx="4663440" cy="374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-Learn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s-CL" noProof="0" dirty="0">
              <a:solidFill>
                <a:schemeClr val="bg1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ReactGit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GitHub</a:t>
            </a: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s-CL" noProof="0" dirty="0">
              <a:solidFill>
                <a:schemeClr val="bg1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1" name="Image 1" descr="/tmp/u_method.png">
            <a:extLst>
              <a:ext uri="{FF2B5EF4-FFF2-40B4-BE49-F238E27FC236}">
                <a16:creationId xmlns:a16="http://schemas.microsoft.com/office/drawing/2014/main" id="{AE4ACFF9-3FCE-34AF-13CE-23167CB0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3474720"/>
            <a:ext cx="640080" cy="6400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8F9C1517-4FFE-90F4-1F7F-6E5EB0B54310}"/>
              </a:ext>
            </a:extLst>
          </p:cNvPr>
          <p:cNvSpPr/>
          <p:nvPr/>
        </p:nvSpPr>
        <p:spPr>
          <a:xfrm>
            <a:off x="6629400" y="416052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i="1" noProof="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diagrama o esquema de metodología</a:t>
            </a:r>
            <a:endParaRPr lang="es-CL" sz="1250" noProof="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3B6A0EC-1469-D0D4-CD7C-6BB58B359C20}"/>
              </a:ext>
            </a:extLst>
          </p:cNvPr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1943B9-A882-6574-EA85-3EE1E4FA7F51}"/>
              </a:ext>
            </a:extLst>
          </p:cNvPr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B4B4513-7571-A411-67CF-3F24A3C58F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30" r="1369" b="39333"/>
          <a:stretch>
            <a:fillRect/>
          </a:stretch>
        </p:blipFill>
        <p:spPr>
          <a:xfrm>
            <a:off x="6495571" y="1108456"/>
            <a:ext cx="5053301" cy="232054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59F8A58-992B-7255-2894-A0B085B29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" t="59599" r="16487" b="1"/>
          <a:stretch>
            <a:fillRect/>
          </a:stretch>
        </p:blipFill>
        <p:spPr>
          <a:xfrm>
            <a:off x="7291184" y="3300984"/>
            <a:ext cx="4257688" cy="27706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48C8556-8952-D506-428D-4FBB1EEB3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079" t="5482" r="35127" b="74370"/>
          <a:stretch>
            <a:fillRect/>
          </a:stretch>
        </p:blipFill>
        <p:spPr>
          <a:xfrm>
            <a:off x="7517709" y="3474720"/>
            <a:ext cx="1475231" cy="138176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43EF94C-963A-F27E-1E39-CB1B24E0C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1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>
              <a:solidFill>
                <a:srgbClr val="1ED7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7808884" y="1847088"/>
            <a:ext cx="4078316" cy="1691640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/>
          <p:cNvSpPr/>
          <p:nvPr/>
        </p:nvSpPr>
        <p:spPr>
          <a:xfrm>
            <a:off x="8220364" y="2121408"/>
            <a:ext cx="33557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0.9497</a:t>
            </a:r>
            <a:endParaRPr lang="es-CL" sz="400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8220364" y="2807208"/>
            <a:ext cx="335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50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95 % de la variabilidad del precio explicada por el modelo</a:t>
            </a:r>
            <a:endParaRPr lang="es-CL" sz="135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7808884" y="3904488"/>
            <a:ext cx="4078316" cy="1691640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>
              <a:solidFill>
                <a:srgbClr val="1ED76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70152" y="4178808"/>
            <a:ext cx="33557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0.1017</a:t>
            </a:r>
            <a:endParaRPr lang="es-CL" sz="4000" noProof="0" dirty="0">
              <a:solidFill>
                <a:srgbClr val="1ED76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20364" y="4864608"/>
            <a:ext cx="335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50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error promedio entre las cinco técnicas evaluadas</a:t>
            </a:r>
            <a:endParaRPr lang="es-CL" sz="135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7B82DFD-DDA8-132C-F90D-B5B4A2FF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22" y="2099318"/>
            <a:ext cx="7133706" cy="33139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6147ED0-D5EB-045B-8A35-962B332B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495BADB-7D6B-DE83-BED0-58100459F7DF}"/>
              </a:ext>
            </a:extLst>
          </p:cNvPr>
          <p:cNvSpPr/>
          <p:nvPr/>
        </p:nvSpPr>
        <p:spPr>
          <a:xfrm>
            <a:off x="7955280" y="1344168"/>
            <a:ext cx="4048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Random Forest</a:t>
            </a:r>
            <a:endParaRPr lang="es-CL" sz="2800" noProof="0" dirty="0">
              <a:solidFill>
                <a:srgbClr val="1ED7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0F96E-F5E8-4DB3-3820-C99C3CC0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07F40F-7634-CA28-E052-30D90513B66C}"/>
              </a:ext>
            </a:extLst>
          </p:cNvPr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EB038C-1693-F1AE-E8BC-84B339C88FB1}"/>
              </a:ext>
            </a:extLst>
          </p:cNvPr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038340-4E80-7A5E-D271-4AEE7052A2AD}"/>
              </a:ext>
            </a:extLst>
          </p:cNvPr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s-CL" sz="3000" b="1" noProof="0" dirty="0" err="1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mportancia</a:t>
            </a: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Variables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ECADED5-ABDC-73BB-0837-9BD06FA5A99C}"/>
              </a:ext>
            </a:extLst>
          </p:cNvPr>
          <p:cNvSpPr/>
          <p:nvPr/>
        </p:nvSpPr>
        <p:spPr>
          <a:xfrm>
            <a:off x="7639291" y="1138431"/>
            <a:ext cx="4247909" cy="5244081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960145C-87CA-7D53-B216-FD90CACDB144}"/>
              </a:ext>
            </a:extLst>
          </p:cNvPr>
          <p:cNvSpPr/>
          <p:nvPr/>
        </p:nvSpPr>
        <p:spPr>
          <a:xfrm>
            <a:off x="7955280" y="1157008"/>
            <a:ext cx="3443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C5495DE-1AE4-65DD-B394-769B0AEDEE3E}"/>
              </a:ext>
            </a:extLst>
          </p:cNvPr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AFD2253-C09D-2539-2C57-B8237B18F46C}"/>
              </a:ext>
            </a:extLst>
          </p:cNvPr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AC80490-3A69-B133-1425-8CAB5C0D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22"/>
          <a:stretch>
            <a:fillRect/>
          </a:stretch>
        </p:blipFill>
        <p:spPr>
          <a:xfrm>
            <a:off x="182628" y="2103120"/>
            <a:ext cx="7315200" cy="333075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CF9240B-EEDB-C164-BEDD-A339BDC8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325" r="89163"/>
          <a:stretch>
            <a:fillRect/>
          </a:stretch>
        </p:blipFill>
        <p:spPr>
          <a:xfrm>
            <a:off x="6684776" y="4257241"/>
            <a:ext cx="792732" cy="721667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2D99803-41DD-3105-2467-42A4F84660E8}"/>
              </a:ext>
            </a:extLst>
          </p:cNvPr>
          <p:cNvSpPr txBox="1"/>
          <p:nvPr/>
        </p:nvSpPr>
        <p:spPr>
          <a:xfrm>
            <a:off x="7779657" y="1812167"/>
            <a:ext cx="41075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El modelo específico del vehículo es el factor dominante.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800" dirty="0">
              <a:solidFill>
                <a:srgbClr val="1ED7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La antigüedad explica gran parte del precio.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800" dirty="0">
              <a:solidFill>
                <a:srgbClr val="1ED7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El kilometraje influye, pero menos de lo esperado.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5DE535A-22AA-C1CF-D421-0CDF92927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9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05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Solución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pic>
        <p:nvPicPr>
          <p:cNvPr id="5" name="Image 0" descr="/tmp/unab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473" y="548640"/>
            <a:ext cx="1165399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0312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BFCFD"/>
          </a:solidFill>
          <a:ln w="19050">
            <a:solidFill>
              <a:srgbClr val="DCE3EC"/>
            </a:solidFill>
            <a:prstDash val="dash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1" descr="/tmp/u_i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4747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i="1" noProof="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captura, foto o esquema de tu solución</a:t>
            </a:r>
            <a:endParaRPr lang="es-CL" sz="1250" noProof="0" dirty="0"/>
          </a:p>
        </p:txBody>
      </p:sp>
      <p:sp>
        <p:nvSpPr>
          <p:cNvPr id="10" name="Shape 6"/>
          <p:cNvSpPr/>
          <p:nvPr/>
        </p:nvSpPr>
        <p:spPr>
          <a:xfrm>
            <a:off x="6446520" y="1325880"/>
            <a:ext cx="5102352" cy="4924041"/>
          </a:xfrm>
          <a:prstGeom prst="roundRect">
            <a:avLst>
              <a:gd name="adj" fmla="val 2195"/>
            </a:avLst>
          </a:prstGeom>
          <a:solidFill>
            <a:srgbClr val="282827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/>
          <p:cNvSpPr/>
          <p:nvPr/>
        </p:nvSpPr>
        <p:spPr>
          <a:xfrm>
            <a:off x="6528816" y="93268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solución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686780" y="1444752"/>
            <a:ext cx="47940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L" sz="1700" b="1" dirty="0">
                <a:solidFill>
                  <a:srgbClr val="1ED760"/>
                </a:solidFill>
              </a:rPr>
              <a:t>¿Qué hace y cómo funciona?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Procesa los datos ingresados por el usuario y genera una predicción en tiempo real.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Componentes principales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 err="1">
                <a:solidFill>
                  <a:srgbClr val="1ED760"/>
                </a:solidFill>
              </a:rPr>
              <a:t>Frontend</a:t>
            </a:r>
            <a:r>
              <a:rPr lang="es-CL" sz="1700" dirty="0">
                <a:solidFill>
                  <a:srgbClr val="1ED760"/>
                </a:solidFill>
              </a:rPr>
              <a:t> desarrollado en </a:t>
            </a:r>
            <a:r>
              <a:rPr lang="es-CL" sz="1700" dirty="0" err="1">
                <a:solidFill>
                  <a:srgbClr val="1ED760"/>
                </a:solidFill>
              </a:rPr>
              <a:t>React</a:t>
            </a:r>
            <a:r>
              <a:rPr lang="es-CL" sz="1700" dirty="0">
                <a:solidFill>
                  <a:srgbClr val="1ED760"/>
                </a:solidFill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 err="1">
                <a:solidFill>
                  <a:srgbClr val="1ED760"/>
                </a:solidFill>
              </a:rPr>
              <a:t>Backend</a:t>
            </a:r>
            <a:r>
              <a:rPr lang="es-CL" sz="1700" dirty="0">
                <a:solidFill>
                  <a:srgbClr val="1ED760"/>
                </a:solidFill>
              </a:rPr>
              <a:t> REST desarrollado con </a:t>
            </a:r>
            <a:r>
              <a:rPr lang="es-CL" sz="1700" dirty="0" err="1">
                <a:solidFill>
                  <a:srgbClr val="1ED760"/>
                </a:solidFill>
              </a:rPr>
              <a:t>FastAPI</a:t>
            </a:r>
            <a:r>
              <a:rPr lang="es-CL" sz="1700" dirty="0">
                <a:solidFill>
                  <a:srgbClr val="1ED760"/>
                </a:solidFill>
              </a:rPr>
              <a:t>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Decisión técnica relevante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 Random Forest tiene el mejor desempeño predictivo con un R² de 0,9497.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Dificultades y solución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Mantener la consistencia entre entrenamiento e inferencia.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Se recuperaron y reutilizaron artefactos del pipeline: codificaciones, escaladores y parámetros de transformación.</a:t>
            </a:r>
          </a:p>
          <a:p>
            <a:pPr marL="0" indent="0">
              <a:spcAft>
                <a:spcPts val="1300"/>
              </a:spcAft>
              <a:buNone/>
            </a:pPr>
            <a:endParaRPr lang="es-CL" sz="1450" noProof="0" dirty="0"/>
          </a:p>
        </p:txBody>
      </p:sp>
      <p:sp>
        <p:nvSpPr>
          <p:cNvPr id="13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7056965-C099-8409-EC71-03ED070CB2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35" t="3091" r="26130"/>
          <a:stretch>
            <a:fillRect/>
          </a:stretch>
        </p:blipFill>
        <p:spPr>
          <a:xfrm>
            <a:off x="640080" y="1362456"/>
            <a:ext cx="5486400" cy="4860562"/>
          </a:xfrm>
          <a:prstGeom prst="roundRect">
            <a:avLst>
              <a:gd name="adj" fmla="val 55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1DD0080-4F09-2F9C-37B3-74E396010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06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94360" y="1316736"/>
            <a:ext cx="6766560" cy="4754880"/>
          </a:xfrm>
          <a:prstGeom prst="roundRect">
            <a:avLst>
              <a:gd name="adj" fmla="val 2195"/>
            </a:avLst>
          </a:prstGeom>
          <a:solidFill>
            <a:srgbClr val="9D968E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1510284"/>
            <a:ext cx="6337808" cy="4250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1: Objetivo general cumplido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Se desarrolló exitosamente un sistema capaz de estimar el precio de vehículos usados a partir de sus características, alcanzando un desempeño superior al objetivo planteado inicialmente.</a:t>
            </a:r>
          </a:p>
          <a:p>
            <a:pPr lvl="1"/>
            <a:endParaRPr lang="es-CL" dirty="0">
              <a:solidFill>
                <a:srgbClr val="144727"/>
              </a:solidFill>
            </a:endParaRPr>
          </a:p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2: Hallazgo más relevante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La comparación de técnicas demostró que el problema presenta relaciones complejas y no lineales, donde Random Forest logró explicar aproximadamente el 95 % de la variabilidad de los precios.</a:t>
            </a:r>
          </a:p>
          <a:p>
            <a:pPr lvl="1"/>
            <a:endParaRPr lang="es-CL" dirty="0">
              <a:solidFill>
                <a:srgbClr val="144727"/>
              </a:solidFill>
            </a:endParaRPr>
          </a:p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3: Aprendizaje del proyecto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La calidad y preparación de los datos tuvieron un impacto tan importante como la selección del algoritmo, destacando la importancia de un pipeline reproducible y bien documentado.</a:t>
            </a:r>
          </a:p>
        </p:txBody>
      </p:sp>
      <p:sp>
        <p:nvSpPr>
          <p:cNvPr id="10" name="Shape 7"/>
          <p:cNvSpPr/>
          <p:nvPr/>
        </p:nvSpPr>
        <p:spPr>
          <a:xfrm>
            <a:off x="7726680" y="1316735"/>
            <a:ext cx="3822192" cy="4716841"/>
          </a:xfrm>
          <a:prstGeom prst="roundRect">
            <a:avLst>
              <a:gd name="adj" fmla="val 2439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/tmp/u_bulb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14640" y="1461008"/>
            <a:ext cx="325120" cy="325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80400" y="1436624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s-CL" sz="2400" noProof="0" dirty="0">
              <a:solidFill>
                <a:srgbClr val="1ED76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966940" y="1898904"/>
            <a:ext cx="3328948" cy="3760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del mercado chileno para aumentar la representatividad de las predicciones.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s-MX" sz="1600" noProof="0" dirty="0">
              <a:solidFill>
                <a:srgbClr val="1ED7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variables adicionales mediante procesamiento de lenguaje natural sobre descripciones de anuncios.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s-MX" sz="1600" noProof="0" dirty="0">
              <a:solidFill>
                <a:srgbClr val="1ED7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reentrenamiento periódico para adaptarse a cambios del mercado automotriz.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1BFB46E-EC79-035C-4D8C-93E5E807B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968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89A17-45CC-F4B0-5D19-625E0F26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902838-84E0-2DB6-AC74-1E43ABB86E45}"/>
              </a:ext>
            </a:extLst>
          </p:cNvPr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2EB460-37A8-51CA-79F5-407239A282AE}"/>
              </a:ext>
            </a:extLst>
          </p:cNvPr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CD9DFC-1588-1F1D-4DE8-03FA4BC1D3B7}"/>
              </a:ext>
            </a:extLst>
          </p:cNvPr>
          <p:cNvSpPr/>
          <p:nvPr/>
        </p:nvSpPr>
        <p:spPr>
          <a:xfrm>
            <a:off x="382705" y="5473835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8000" b="1" noProof="0" dirty="0">
                <a:solidFill>
                  <a:srgbClr val="131313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Choque de Realidad</a:t>
            </a:r>
            <a:endParaRPr lang="es-CL" sz="8000" noProof="0" dirty="0">
              <a:solidFill>
                <a:srgbClr val="131313"/>
              </a:solidFill>
              <a:latin typeface="Congenial" panose="02000503040000020004" pitchFamily="2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38403E4-49F7-9BEF-06DD-34896AC3AAE5}"/>
              </a:ext>
            </a:extLst>
          </p:cNvPr>
          <p:cNvGrpSpPr/>
          <p:nvPr/>
        </p:nvGrpSpPr>
        <p:grpSpPr>
          <a:xfrm>
            <a:off x="457201" y="3290232"/>
            <a:ext cx="7259320" cy="1925320"/>
            <a:chOff x="548640" y="3428865"/>
            <a:chExt cx="7259320" cy="192532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5D7698C4-B2BC-716D-0889-EDBA8FF50B63}"/>
                </a:ext>
              </a:extLst>
            </p:cNvPr>
            <p:cNvSpPr/>
            <p:nvPr/>
          </p:nvSpPr>
          <p:spPr>
            <a:xfrm>
              <a:off x="548640" y="3428865"/>
              <a:ext cx="7259320" cy="1925320"/>
            </a:xfrm>
            <a:prstGeom prst="roundRect">
              <a:avLst>
                <a:gd name="adj" fmla="val 6452"/>
              </a:avLst>
            </a:prstGeom>
            <a:solidFill>
              <a:srgbClr val="FFFFFF">
                <a:alpha val="10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s-CL" noProof="0" dirty="0">
                <a:latin typeface="Congenial" panose="02000503040000020004" pitchFamily="2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FD162E26-B2A6-8DA8-0E87-0E5E3D2EAF52}"/>
                </a:ext>
              </a:extLst>
            </p:cNvPr>
            <p:cNvSpPr/>
            <p:nvPr/>
          </p:nvSpPr>
          <p:spPr>
            <a:xfrm>
              <a:off x="914399" y="3638018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AUTOR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D1052BF-7D7D-DC71-E2D9-A57695B88764}"/>
                </a:ext>
              </a:extLst>
            </p:cNvPr>
            <p:cNvSpPr/>
            <p:nvPr/>
          </p:nvSpPr>
          <p:spPr>
            <a:xfrm>
              <a:off x="914399" y="3880249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Celso Farías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9B8EF6C0-9C6E-42A4-0BCC-BD461A4EB1C1}"/>
                </a:ext>
              </a:extLst>
            </p:cNvPr>
            <p:cNvSpPr/>
            <p:nvPr/>
          </p:nvSpPr>
          <p:spPr>
            <a:xfrm>
              <a:off x="4206239" y="3638018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DOCENTE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87861BA9-1D46-156E-CFC7-5C34F85C4F73}"/>
                </a:ext>
              </a:extLst>
            </p:cNvPr>
            <p:cNvSpPr/>
            <p:nvPr/>
          </p:nvSpPr>
          <p:spPr>
            <a:xfrm>
              <a:off x="4206239" y="3880249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Omar Salinas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C1EEB9BA-F67F-3296-9A1A-FF1B54320FA5}"/>
                </a:ext>
              </a:extLst>
            </p:cNvPr>
            <p:cNvSpPr/>
            <p:nvPr/>
          </p:nvSpPr>
          <p:spPr>
            <a:xfrm>
              <a:off x="914399" y="4374619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ASIGNATURA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42132B0-DC72-EFA4-DD33-D74B3979EB1A}"/>
                </a:ext>
              </a:extLst>
            </p:cNvPr>
            <p:cNvSpPr/>
            <p:nvPr/>
          </p:nvSpPr>
          <p:spPr>
            <a:xfrm>
              <a:off x="914399" y="4616850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Ciencia de Datos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37E823F-1BDA-EEE7-27E9-FA9E672509F7}"/>
                </a:ext>
              </a:extLst>
            </p:cNvPr>
            <p:cNvSpPr/>
            <p:nvPr/>
          </p:nvSpPr>
          <p:spPr>
            <a:xfrm>
              <a:off x="4206239" y="4374619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FECHA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92167D51-ADD5-A664-158C-8D0C158939DC}"/>
                </a:ext>
              </a:extLst>
            </p:cNvPr>
            <p:cNvSpPr/>
            <p:nvPr/>
          </p:nvSpPr>
          <p:spPr>
            <a:xfrm>
              <a:off x="4206239" y="4616850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18 de Junio de 2026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</p:grpSp>
      <p:sp>
        <p:nvSpPr>
          <p:cNvPr id="5" name="Text 2">
            <a:extLst>
              <a:ext uri="{FF2B5EF4-FFF2-40B4-BE49-F238E27FC236}">
                <a16:creationId xmlns:a16="http://schemas.microsoft.com/office/drawing/2014/main" id="{24FD913C-1D33-C71A-7F50-562C4431A709}"/>
              </a:ext>
            </a:extLst>
          </p:cNvPr>
          <p:cNvSpPr/>
          <p:nvPr/>
        </p:nvSpPr>
        <p:spPr>
          <a:xfrm>
            <a:off x="457201" y="399542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600" b="1" kern="0" spc="200" noProof="0" dirty="0">
                <a:solidFill>
                  <a:srgbClr val="144727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GRACIAS </a:t>
            </a:r>
            <a:r>
              <a:rPr lang="es-CL" sz="9600" b="1" kern="0" spc="200" noProof="0" dirty="0" err="1">
                <a:solidFill>
                  <a:srgbClr val="144727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iii</a:t>
            </a:r>
            <a:endParaRPr lang="es-CL" sz="9600" noProof="0" dirty="0">
              <a:solidFill>
                <a:srgbClr val="144727"/>
              </a:solidFill>
              <a:latin typeface="Congenial" panose="02000503040000020004" pitchFamily="2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B5D311D-7C91-01F9-864F-454169D15B7F}"/>
              </a:ext>
            </a:extLst>
          </p:cNvPr>
          <p:cNvSpPr/>
          <p:nvPr/>
        </p:nvSpPr>
        <p:spPr>
          <a:xfrm>
            <a:off x="502922" y="2223770"/>
            <a:ext cx="731520" cy="731520"/>
          </a:xfrm>
          <a:prstGeom prst="ellipse">
            <a:avLst/>
          </a:prstGeom>
          <a:solidFill>
            <a:srgbClr val="144727"/>
          </a:solidFill>
          <a:ln/>
        </p:spPr>
        <p:txBody>
          <a:bodyPr/>
          <a:lstStyle/>
          <a:p>
            <a:endParaRPr lang="es-CL" sz="3200" noProof="0" dirty="0">
              <a:solidFill>
                <a:srgbClr val="1ED760"/>
              </a:solidFill>
            </a:endParaRPr>
          </a:p>
        </p:txBody>
      </p:sp>
      <p:pic>
        <p:nvPicPr>
          <p:cNvPr id="22" name="Image 0" descr="/tmp/u_qa_w.png">
            <a:extLst>
              <a:ext uri="{FF2B5EF4-FFF2-40B4-BE49-F238E27FC236}">
                <a16:creationId xmlns:a16="http://schemas.microsoft.com/office/drawing/2014/main" id="{13B20452-FE72-58C6-6D8C-282B3B65189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9D968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4090" y="2424938"/>
            <a:ext cx="329184" cy="329184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5CDBF629-FF45-6880-236B-4669B877552B}"/>
              </a:ext>
            </a:extLst>
          </p:cNvPr>
          <p:cNvSpPr/>
          <p:nvPr/>
        </p:nvSpPr>
        <p:spPr>
          <a:xfrm>
            <a:off x="1417321" y="2223770"/>
            <a:ext cx="61918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pregunta?</a:t>
            </a:r>
            <a:endParaRPr lang="es-CL" sz="4000" noProof="0" dirty="0">
              <a:solidFill>
                <a:srgbClr val="144727"/>
              </a:solidFill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EAD3002E-0640-31E2-F5FD-852AF0F5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02" y="107717"/>
            <a:ext cx="2759218" cy="117584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8A19244-5E3B-707B-A4DE-401D16508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39" y="156837"/>
            <a:ext cx="1077603" cy="10776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6996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07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357825"/>
            <a:ext cx="10908792" cy="4832607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1" descr="/tmp/u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3560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4630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2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fuentes (APA)</a:t>
            </a:r>
            <a:endParaRPr lang="es-CL" sz="1600" noProof="0" dirty="0"/>
          </a:p>
        </p:txBody>
      </p:sp>
      <p:sp>
        <p:nvSpPr>
          <p:cNvPr id="10" name="Text 6"/>
          <p:cNvSpPr/>
          <p:nvPr/>
        </p:nvSpPr>
        <p:spPr>
          <a:xfrm>
            <a:off x="982980" y="1527047"/>
            <a:ext cx="10431780" cy="417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Reese, A. (2021).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Craigslist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Cars and Trucks Data.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Wirth, R., &amp; Hipp, J. (2000). CRISP-DM: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Towards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Standard Process Model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James, G., Witten, D., Hastie, T., &amp;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(2021).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L. (2001). Random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Forests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Machine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 et al. (2011).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-Learn: Machine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Python.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Ramírez, S. (2024).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Open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(2024).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Cui, B. et al. (2022). Used Car Price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Asimov, I. (1950).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Robot. Gnome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Bradbury, R. (1950).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Crónicas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Marcianas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Doubleday.</a:t>
            </a:r>
          </a:p>
          <a:p>
            <a:endParaRPr lang="es-C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2C18C80-25D0-6C39-6C40-11D932977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1240</Words>
  <Application>Microsoft Office PowerPoint</Application>
  <PresentationFormat>Panorámica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Book Antiqua</vt:lpstr>
      <vt:lpstr>Calibri</vt:lpstr>
      <vt:lpstr>Congenial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Presentación — UNAB Facultad de Ingeniería</dc:title>
  <dc:subject>PptxGenJS Presentation</dc:subject>
  <dc:creator>Facultad de Ingeniería · Universidad Andrés Bello</dc:creator>
  <cp:lastModifiedBy>celso farias</cp:lastModifiedBy>
  <cp:revision>13</cp:revision>
  <dcterms:created xsi:type="dcterms:W3CDTF">2026-06-11T13:41:52Z</dcterms:created>
  <dcterms:modified xsi:type="dcterms:W3CDTF">2026-06-17T05:07:53Z</dcterms:modified>
</cp:coreProperties>
</file>